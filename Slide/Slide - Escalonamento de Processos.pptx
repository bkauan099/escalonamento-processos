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Helios Condensed Bold" charset="1" panose="020B0706030502030204"/>
      <p:regular r:id="rId32"/>
    </p:embeddedFont>
    <p:embeddedFont>
      <p:font typeface="Helios" charset="1" panose="020B0504020202020204"/>
      <p:regular r:id="rId33"/>
    </p:embeddedFont>
    <p:embeddedFont>
      <p:font typeface="Helios Bold" charset="1" panose="020B0704020202020204"/>
      <p:regular r:id="rId34"/>
    </p:embeddedFont>
    <p:embeddedFont>
      <p:font typeface="Arial" charset="1" panose="020B0502020202020204"/>
      <p:regular r:id="rId35"/>
    </p:embeddedFont>
    <p:embeddedFont>
      <p:font typeface="Canva Sans Bold" charset="1" panose="020B0803030501040103"/>
      <p:regular r:id="rId36"/>
    </p:embeddedFont>
    <p:embeddedFont>
      <p:font typeface="Canva Sans" charset="1" panose="020B0503030501040103"/>
      <p:regular r:id="rId37"/>
    </p:embeddedFont>
    <p:embeddedFont>
      <p:font typeface="Tahoma" charset="1" panose="020B060403050404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Relationship Id="rId5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58150" y="322564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7" y="0"/>
                </a:lnTo>
                <a:lnTo>
                  <a:pt x="5344977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7285056"/>
            <a:ext cx="16374427" cy="1783975"/>
            <a:chOff x="0" y="0"/>
            <a:chExt cx="4312606" cy="4698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12606" cy="469853"/>
            </a:xfrm>
            <a:custGeom>
              <a:avLst/>
              <a:gdLst/>
              <a:ahLst/>
              <a:cxnLst/>
              <a:rect r="r" b="b" t="t" l="l"/>
              <a:pathLst>
                <a:path h="469853" w="4312606">
                  <a:moveTo>
                    <a:pt x="9456" y="0"/>
                  </a:moveTo>
                  <a:lnTo>
                    <a:pt x="4303150" y="0"/>
                  </a:lnTo>
                  <a:cubicBezTo>
                    <a:pt x="4305658" y="0"/>
                    <a:pt x="4308063" y="996"/>
                    <a:pt x="4309837" y="2770"/>
                  </a:cubicBezTo>
                  <a:cubicBezTo>
                    <a:pt x="4311610" y="4543"/>
                    <a:pt x="4312606" y="6948"/>
                    <a:pt x="4312606" y="9456"/>
                  </a:cubicBezTo>
                  <a:lnTo>
                    <a:pt x="4312606" y="460397"/>
                  </a:lnTo>
                  <a:cubicBezTo>
                    <a:pt x="4312606" y="462905"/>
                    <a:pt x="4311610" y="465310"/>
                    <a:pt x="4309837" y="467084"/>
                  </a:cubicBezTo>
                  <a:cubicBezTo>
                    <a:pt x="4308063" y="468857"/>
                    <a:pt x="4305658" y="469853"/>
                    <a:pt x="4303150" y="469853"/>
                  </a:cubicBezTo>
                  <a:lnTo>
                    <a:pt x="9456" y="469853"/>
                  </a:lnTo>
                  <a:cubicBezTo>
                    <a:pt x="6948" y="469853"/>
                    <a:pt x="4543" y="468857"/>
                    <a:pt x="2770" y="467084"/>
                  </a:cubicBezTo>
                  <a:cubicBezTo>
                    <a:pt x="996" y="465310"/>
                    <a:pt x="0" y="462905"/>
                    <a:pt x="0" y="460397"/>
                  </a:cubicBezTo>
                  <a:lnTo>
                    <a:pt x="0" y="9456"/>
                  </a:lnTo>
                  <a:cubicBezTo>
                    <a:pt x="0" y="6948"/>
                    <a:pt x="996" y="4543"/>
                    <a:pt x="2770" y="2770"/>
                  </a:cubicBezTo>
                  <a:cubicBezTo>
                    <a:pt x="4543" y="996"/>
                    <a:pt x="6948" y="0"/>
                    <a:pt x="945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312606" cy="507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07831" y="2801075"/>
            <a:ext cx="5999336" cy="6150843"/>
            <a:chOff x="0" y="0"/>
            <a:chExt cx="660400" cy="677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677078"/>
            </a:xfrm>
            <a:custGeom>
              <a:avLst/>
              <a:gdLst/>
              <a:ahLst/>
              <a:cxnLst/>
              <a:rect r="r" b="b" t="t" l="l"/>
              <a:pathLst>
                <a:path h="67707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5487"/>
                  </a:cubicBezTo>
                  <a:lnTo>
                    <a:pt x="660400" y="635138"/>
                  </a:lnTo>
                  <a:cubicBezTo>
                    <a:pt x="660400" y="646261"/>
                    <a:pt x="655981" y="656928"/>
                    <a:pt x="648116" y="664794"/>
                  </a:cubicBezTo>
                  <a:cubicBezTo>
                    <a:pt x="640251" y="672659"/>
                    <a:pt x="629583" y="677078"/>
                    <a:pt x="618460" y="677078"/>
                  </a:cubicBezTo>
                  <a:lnTo>
                    <a:pt x="41940" y="677078"/>
                  </a:lnTo>
                  <a:cubicBezTo>
                    <a:pt x="18777" y="677078"/>
                    <a:pt x="0" y="658301"/>
                    <a:pt x="0" y="635138"/>
                  </a:cubicBezTo>
                  <a:lnTo>
                    <a:pt x="0" y="325748"/>
                  </a:lnTo>
                  <a:cubicBezTo>
                    <a:pt x="1782" y="185660"/>
                    <a:pt x="93019" y="64045"/>
                    <a:pt x="220252" y="19070"/>
                  </a:cubicBezTo>
                  <a:lnTo>
                    <a:pt x="220252" y="19070"/>
                  </a:lnTo>
                  <a:close/>
                </a:path>
              </a:pathLst>
            </a:custGeom>
            <a:blipFill>
              <a:blip r:embed="rId4"/>
              <a:stretch>
                <a:fillRect l="-26798" t="0" r="-2679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6688913"/>
            <a:ext cx="1488130" cy="14881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77121" y="2485201"/>
            <a:ext cx="12315408" cy="273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9"/>
              </a:lnSpc>
            </a:pPr>
            <a:r>
              <a:rPr lang="en-US" sz="10299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GERENCIAMENTOS DE PROCESSOS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7121" y="5612588"/>
            <a:ext cx="8854052" cy="655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ESCALONAMENTO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2209" y="7672218"/>
            <a:ext cx="885405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Grupo: Bruno Kauan,Eduardo Oliveira, Ellen Cristina, Gabriel  Patrick e Herick Vinícius.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60511" y="-3625752"/>
            <a:ext cx="6098861" cy="609886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456102" y="469835"/>
            <a:ext cx="5321489" cy="5213317"/>
          </a:xfrm>
          <a:custGeom>
            <a:avLst/>
            <a:gdLst/>
            <a:ahLst/>
            <a:cxnLst/>
            <a:rect r="r" b="b" t="t" l="l"/>
            <a:pathLst>
              <a:path h="5213317" w="5321489">
                <a:moveTo>
                  <a:pt x="0" y="0"/>
                </a:moveTo>
                <a:lnTo>
                  <a:pt x="5321489" y="0"/>
                </a:lnTo>
                <a:lnTo>
                  <a:pt x="5321489" y="5213317"/>
                </a:lnTo>
                <a:lnTo>
                  <a:pt x="0" y="521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1" t="-8492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581866" y="8444536"/>
            <a:ext cx="1677434" cy="813764"/>
            <a:chOff x="0" y="0"/>
            <a:chExt cx="441793" cy="2143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847878" y="8665681"/>
            <a:ext cx="515555" cy="367977"/>
          </a:xfrm>
          <a:custGeom>
            <a:avLst/>
            <a:gdLst/>
            <a:ahLst/>
            <a:cxnLst/>
            <a:rect r="r" b="b" t="t" l="l"/>
            <a:pathLst>
              <a:path h="367977" w="515555">
                <a:moveTo>
                  <a:pt x="0" y="0"/>
                </a:moveTo>
                <a:lnTo>
                  <a:pt x="515555" y="0"/>
                </a:lnTo>
                <a:lnTo>
                  <a:pt x="515555" y="367977"/>
                </a:lnTo>
                <a:lnTo>
                  <a:pt x="0" y="367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77121" y="739219"/>
            <a:ext cx="994094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SUMÁRIO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146347" y="3579574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404767" y="3560524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077121" y="4770072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04767" y="4789122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77121" y="601772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8404767" y="6017721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77121" y="724631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8404767" y="724631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2701369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01.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04767" y="2701369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05.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3787092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02.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04767" y="3936317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06.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7121" y="5171266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03.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04767" y="5171266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07.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7121" y="6406214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04.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04767" y="6406214"/>
            <a:ext cx="99023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08.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64012" y="2869009"/>
            <a:ext cx="540534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OBJETIVO E INTRODUÇÃO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13741" y="2903638"/>
            <a:ext cx="494236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ALGORITMO SRTN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3741" y="6573854"/>
            <a:ext cx="540534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REFERÊNCIAS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95004" y="4150947"/>
            <a:ext cx="68731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APRESENTAÇÃO DO EXECUTÁVEL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64012" y="5378352"/>
            <a:ext cx="46405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ALGORITMO FIFO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0254" y="5378352"/>
            <a:ext cx="63576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CONSIDERAÇÕES FINAIS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64012" y="6573854"/>
            <a:ext cx="464055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ALGORITMO SJF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64012" y="4093797"/>
            <a:ext cx="426876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CONCEITOS BÁSICOS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14493" y="8444536"/>
            <a:ext cx="2444807" cy="813764"/>
            <a:chOff x="0" y="0"/>
            <a:chExt cx="643900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3900" cy="214325"/>
            </a:xfrm>
            <a:custGeom>
              <a:avLst/>
              <a:gdLst/>
              <a:ahLst/>
              <a:cxnLst/>
              <a:rect r="r" b="b" t="t" l="l"/>
              <a:pathLst>
                <a:path h="214325" w="643900">
                  <a:moveTo>
                    <a:pt x="63334" y="0"/>
                  </a:moveTo>
                  <a:lnTo>
                    <a:pt x="580566" y="0"/>
                  </a:lnTo>
                  <a:cubicBezTo>
                    <a:pt x="615544" y="0"/>
                    <a:pt x="643900" y="28355"/>
                    <a:pt x="643900" y="63334"/>
                  </a:cubicBezTo>
                  <a:lnTo>
                    <a:pt x="643900" y="150991"/>
                  </a:lnTo>
                  <a:cubicBezTo>
                    <a:pt x="643900" y="167788"/>
                    <a:pt x="637227" y="183897"/>
                    <a:pt x="625350" y="195775"/>
                  </a:cubicBezTo>
                  <a:cubicBezTo>
                    <a:pt x="613472" y="207652"/>
                    <a:pt x="597363" y="214325"/>
                    <a:pt x="580566" y="214325"/>
                  </a:cubicBezTo>
                  <a:lnTo>
                    <a:pt x="63334" y="214325"/>
                  </a:lnTo>
                  <a:cubicBezTo>
                    <a:pt x="28355" y="214325"/>
                    <a:pt x="0" y="185969"/>
                    <a:pt x="0" y="150991"/>
                  </a:cubicBezTo>
                  <a:lnTo>
                    <a:pt x="0" y="63334"/>
                  </a:lnTo>
                  <a:cubicBezTo>
                    <a:pt x="0" y="28355"/>
                    <a:pt x="28355" y="0"/>
                    <a:pt x="63334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3900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35140" y="3176704"/>
            <a:ext cx="3579353" cy="357935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853945" y="2336480"/>
            <a:ext cx="5614039" cy="561403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432614" y="27092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7" y="0"/>
                </a:lnTo>
                <a:lnTo>
                  <a:pt x="5344977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1235140" y="1028700"/>
            <a:ext cx="3197474" cy="319747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68359" t="0" r="-26516" b="-2983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29047" y="784659"/>
            <a:ext cx="8575013" cy="239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OBJETIVO E INTRODUÇÃO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29047" y="3477895"/>
            <a:ext cx="9301832" cy="376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Este projeto apresenta um simulador gráfico de escalonamento de processos, desenvolvido em C . Ele permite adicionar processos, escolher algoritmos como FIFO, SJF e SRTN, e visualizar graficamente sua execução.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03/26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23278" y="8444536"/>
            <a:ext cx="2036022" cy="813764"/>
            <a:chOff x="0" y="0"/>
            <a:chExt cx="536236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6236" cy="214325"/>
            </a:xfrm>
            <a:custGeom>
              <a:avLst/>
              <a:gdLst/>
              <a:ahLst/>
              <a:cxnLst/>
              <a:rect r="r" b="b" t="t" l="l"/>
              <a:pathLst>
                <a:path h="214325" w="536236">
                  <a:moveTo>
                    <a:pt x="76049" y="0"/>
                  </a:moveTo>
                  <a:lnTo>
                    <a:pt x="460187" y="0"/>
                  </a:lnTo>
                  <a:cubicBezTo>
                    <a:pt x="502188" y="0"/>
                    <a:pt x="536236" y="34049"/>
                    <a:pt x="536236" y="76049"/>
                  </a:cubicBezTo>
                  <a:lnTo>
                    <a:pt x="536236" y="138275"/>
                  </a:lnTo>
                  <a:cubicBezTo>
                    <a:pt x="536236" y="180276"/>
                    <a:pt x="502188" y="214325"/>
                    <a:pt x="460187" y="214325"/>
                  </a:cubicBezTo>
                  <a:lnTo>
                    <a:pt x="76049" y="214325"/>
                  </a:lnTo>
                  <a:cubicBezTo>
                    <a:pt x="34049" y="214325"/>
                    <a:pt x="0" y="180276"/>
                    <a:pt x="0" y="138275"/>
                  </a:cubicBezTo>
                  <a:lnTo>
                    <a:pt x="0" y="76049"/>
                  </a:lnTo>
                  <a:cubicBezTo>
                    <a:pt x="0" y="34049"/>
                    <a:pt x="34049" y="0"/>
                    <a:pt x="76049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6236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020730" y="-3419258"/>
            <a:ext cx="6098861" cy="60988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62093" y="3131189"/>
            <a:ext cx="1677926" cy="1359120"/>
          </a:xfrm>
          <a:custGeom>
            <a:avLst/>
            <a:gdLst/>
            <a:ahLst/>
            <a:cxnLst/>
            <a:rect r="r" b="b" t="t" l="l"/>
            <a:pathLst>
              <a:path h="1359120" w="1677926">
                <a:moveTo>
                  <a:pt x="0" y="0"/>
                </a:moveTo>
                <a:lnTo>
                  <a:pt x="1677926" y="0"/>
                </a:lnTo>
                <a:lnTo>
                  <a:pt x="1677926" y="1359120"/>
                </a:lnTo>
                <a:lnTo>
                  <a:pt x="0" y="1359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2093" y="5836208"/>
            <a:ext cx="1467942" cy="1262430"/>
          </a:xfrm>
          <a:custGeom>
            <a:avLst/>
            <a:gdLst/>
            <a:ahLst/>
            <a:cxnLst/>
            <a:rect r="r" b="b" t="t" l="l"/>
            <a:pathLst>
              <a:path h="1262430" w="1467942">
                <a:moveTo>
                  <a:pt x="0" y="0"/>
                </a:moveTo>
                <a:lnTo>
                  <a:pt x="1467942" y="0"/>
                </a:lnTo>
                <a:lnTo>
                  <a:pt x="1467942" y="1262430"/>
                </a:lnTo>
                <a:lnTo>
                  <a:pt x="0" y="1262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820386" y="3217668"/>
            <a:ext cx="1694518" cy="1186163"/>
          </a:xfrm>
          <a:custGeom>
            <a:avLst/>
            <a:gdLst/>
            <a:ahLst/>
            <a:cxnLst/>
            <a:rect r="r" b="b" t="t" l="l"/>
            <a:pathLst>
              <a:path h="1186163" w="1694518">
                <a:moveTo>
                  <a:pt x="0" y="0"/>
                </a:moveTo>
                <a:lnTo>
                  <a:pt x="1694519" y="0"/>
                </a:lnTo>
                <a:lnTo>
                  <a:pt x="1694519" y="1186162"/>
                </a:lnTo>
                <a:lnTo>
                  <a:pt x="0" y="11861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693577" y="5325529"/>
            <a:ext cx="1948137" cy="1773109"/>
          </a:xfrm>
          <a:custGeom>
            <a:avLst/>
            <a:gdLst/>
            <a:ahLst/>
            <a:cxnLst/>
            <a:rect r="r" b="b" t="t" l="l"/>
            <a:pathLst>
              <a:path h="1773109" w="1948137">
                <a:moveTo>
                  <a:pt x="0" y="0"/>
                </a:moveTo>
                <a:lnTo>
                  <a:pt x="1948137" y="0"/>
                </a:lnTo>
                <a:lnTo>
                  <a:pt x="1948137" y="1773109"/>
                </a:lnTo>
                <a:lnTo>
                  <a:pt x="0" y="17731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677930" y="774602"/>
            <a:ext cx="9383018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CONCEITOS BÁSICOS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50003" y="3254599"/>
            <a:ext cx="6122037" cy="123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O QUE É UM ESCALONAMENTO?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35947" y="3264759"/>
            <a:ext cx="5737055" cy="1235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IMPACTO DO ESCALONAMENTO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0003" y="5499365"/>
            <a:ext cx="5345766" cy="185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IMPORTÂNCIA E OBJETIVO DO ESCALONAMENTO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335" y="341520"/>
            <a:ext cx="1810684" cy="160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79"/>
              </a:lnSpc>
            </a:pPr>
            <a:r>
              <a:rPr lang="en-US" sz="9199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02.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23278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04/26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35947" y="5499365"/>
            <a:ext cx="5737055" cy="185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true">
                <a:solidFill>
                  <a:srgbClr val="00CCFF"/>
                </a:solidFill>
                <a:latin typeface="Helios Bold"/>
                <a:ea typeface="Helios Bold"/>
                <a:cs typeface="Helios Bold"/>
                <a:sym typeface="Helios Bold"/>
              </a:rPr>
              <a:t>RELAÇÃO COM A ARQUITETURA DE COMPUTADORES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64690" y="8444536"/>
            <a:ext cx="2394610" cy="813764"/>
            <a:chOff x="0" y="0"/>
            <a:chExt cx="630679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0679" cy="214325"/>
            </a:xfrm>
            <a:custGeom>
              <a:avLst/>
              <a:gdLst/>
              <a:ahLst/>
              <a:cxnLst/>
              <a:rect r="r" b="b" t="t" l="l"/>
              <a:pathLst>
                <a:path h="214325" w="630679">
                  <a:moveTo>
                    <a:pt x="64661" y="0"/>
                  </a:moveTo>
                  <a:lnTo>
                    <a:pt x="566018" y="0"/>
                  </a:lnTo>
                  <a:cubicBezTo>
                    <a:pt x="601729" y="0"/>
                    <a:pt x="630679" y="28950"/>
                    <a:pt x="630679" y="64661"/>
                  </a:cubicBezTo>
                  <a:lnTo>
                    <a:pt x="630679" y="149663"/>
                  </a:lnTo>
                  <a:cubicBezTo>
                    <a:pt x="630679" y="185375"/>
                    <a:pt x="601729" y="214325"/>
                    <a:pt x="566018" y="214325"/>
                  </a:cubicBezTo>
                  <a:lnTo>
                    <a:pt x="64661" y="214325"/>
                  </a:lnTo>
                  <a:cubicBezTo>
                    <a:pt x="28950" y="214325"/>
                    <a:pt x="0" y="185375"/>
                    <a:pt x="0" y="149663"/>
                  </a:cubicBezTo>
                  <a:lnTo>
                    <a:pt x="0" y="64661"/>
                  </a:lnTo>
                  <a:cubicBezTo>
                    <a:pt x="0" y="28950"/>
                    <a:pt x="28950" y="0"/>
                    <a:pt x="64661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0679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180022" y="-3689036"/>
            <a:ext cx="5388033" cy="6098861"/>
            <a:chOff x="0" y="0"/>
            <a:chExt cx="718067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8067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67">
                  <a:moveTo>
                    <a:pt x="359034" y="0"/>
                  </a:moveTo>
                  <a:cubicBezTo>
                    <a:pt x="160745" y="0"/>
                    <a:pt x="0" y="181951"/>
                    <a:pt x="0" y="406400"/>
                  </a:cubicBezTo>
                  <a:cubicBezTo>
                    <a:pt x="0" y="630849"/>
                    <a:pt x="160745" y="812800"/>
                    <a:pt x="359034" y="812800"/>
                  </a:cubicBezTo>
                  <a:cubicBezTo>
                    <a:pt x="557323" y="812800"/>
                    <a:pt x="718067" y="630849"/>
                    <a:pt x="718067" y="406400"/>
                  </a:cubicBezTo>
                  <a:cubicBezTo>
                    <a:pt x="718067" y="181951"/>
                    <a:pt x="557323" y="0"/>
                    <a:pt x="359034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67319" y="38100"/>
              <a:ext cx="58343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2606102" y="-1906278"/>
            <a:ext cx="5344977" cy="5049509"/>
          </a:xfrm>
          <a:custGeom>
            <a:avLst/>
            <a:gdLst/>
            <a:ahLst/>
            <a:cxnLst/>
            <a:rect r="r" b="b" t="t" l="l"/>
            <a:pathLst>
              <a:path h="5049509" w="5344977">
                <a:moveTo>
                  <a:pt x="0" y="0"/>
                </a:moveTo>
                <a:lnTo>
                  <a:pt x="5344977" y="0"/>
                </a:lnTo>
                <a:lnTo>
                  <a:pt x="5344977" y="5049508"/>
                </a:lnTo>
                <a:lnTo>
                  <a:pt x="0" y="504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201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77121" y="1171575"/>
            <a:ext cx="978817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ESCALONAMENTO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7121" y="2889312"/>
            <a:ext cx="11195173" cy="3259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770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DEFINIÇÃO</a:t>
            </a:r>
          </a:p>
          <a:p>
            <a:pPr algn="l">
              <a:lnSpc>
                <a:spcPts val="5137"/>
              </a:lnSpc>
            </a:pPr>
            <a:r>
              <a:rPr lang="en-US" sz="3669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Consiste em distribuir o acesso aos recursos do sistema entre os processos que o solicitam. Responsável por decidir qual processo será utilizado pela CPU.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151242" y="3371755"/>
            <a:ext cx="4284451" cy="4731051"/>
            <a:chOff x="0" y="0"/>
            <a:chExt cx="4963728" cy="54811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63668" cy="5481193"/>
            </a:xfrm>
            <a:custGeom>
              <a:avLst/>
              <a:gdLst/>
              <a:ahLst/>
              <a:cxnLst/>
              <a:rect r="r" b="b" t="t" l="l"/>
              <a:pathLst>
                <a:path h="5481193" w="4963668">
                  <a:moveTo>
                    <a:pt x="0" y="0"/>
                  </a:moveTo>
                  <a:lnTo>
                    <a:pt x="4963668" y="0"/>
                  </a:lnTo>
                  <a:lnTo>
                    <a:pt x="4963668" y="5481193"/>
                  </a:lnTo>
                  <a:lnTo>
                    <a:pt x="0" y="5481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4" r="-1" b="-3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05/26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43077" y="5143500"/>
            <a:ext cx="3549602" cy="4017890"/>
            <a:chOff x="0" y="0"/>
            <a:chExt cx="71806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18067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67">
                  <a:moveTo>
                    <a:pt x="359034" y="0"/>
                  </a:moveTo>
                  <a:cubicBezTo>
                    <a:pt x="160745" y="0"/>
                    <a:pt x="0" y="181951"/>
                    <a:pt x="0" y="406400"/>
                  </a:cubicBezTo>
                  <a:cubicBezTo>
                    <a:pt x="0" y="630849"/>
                    <a:pt x="160745" y="812800"/>
                    <a:pt x="359034" y="812800"/>
                  </a:cubicBezTo>
                  <a:cubicBezTo>
                    <a:pt x="557323" y="812800"/>
                    <a:pt x="718067" y="630849"/>
                    <a:pt x="718067" y="406400"/>
                  </a:cubicBezTo>
                  <a:cubicBezTo>
                    <a:pt x="718067" y="181951"/>
                    <a:pt x="557323" y="0"/>
                    <a:pt x="359034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7319" y="38100"/>
              <a:ext cx="58343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95085" y="8444536"/>
            <a:ext cx="2264215" cy="813764"/>
            <a:chOff x="0" y="0"/>
            <a:chExt cx="596336" cy="2143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6336" cy="214325"/>
            </a:xfrm>
            <a:custGeom>
              <a:avLst/>
              <a:gdLst/>
              <a:ahLst/>
              <a:cxnLst/>
              <a:rect r="r" b="b" t="t" l="l"/>
              <a:pathLst>
                <a:path h="214325" w="596336">
                  <a:moveTo>
                    <a:pt x="68385" y="0"/>
                  </a:moveTo>
                  <a:lnTo>
                    <a:pt x="527951" y="0"/>
                  </a:lnTo>
                  <a:cubicBezTo>
                    <a:pt x="565719" y="0"/>
                    <a:pt x="596336" y="30617"/>
                    <a:pt x="596336" y="68385"/>
                  </a:cubicBezTo>
                  <a:lnTo>
                    <a:pt x="596336" y="145940"/>
                  </a:lnTo>
                  <a:cubicBezTo>
                    <a:pt x="596336" y="183708"/>
                    <a:pt x="565719" y="214325"/>
                    <a:pt x="527951" y="214325"/>
                  </a:cubicBezTo>
                  <a:lnTo>
                    <a:pt x="68385" y="214325"/>
                  </a:lnTo>
                  <a:cubicBezTo>
                    <a:pt x="30617" y="214325"/>
                    <a:pt x="0" y="183708"/>
                    <a:pt x="0" y="145940"/>
                  </a:cubicBezTo>
                  <a:lnTo>
                    <a:pt x="0" y="68385"/>
                  </a:lnTo>
                  <a:cubicBezTo>
                    <a:pt x="0" y="30617"/>
                    <a:pt x="30617" y="0"/>
                    <a:pt x="68385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96336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71380"/>
            <a:ext cx="14504746" cy="239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DE ESCALONAMENTO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7121" y="2676430"/>
            <a:ext cx="11195173" cy="19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NÃO PREEMPTIVO</a:t>
            </a:r>
          </a:p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Quando um processo executa, ele não pode ser interropido por um fator externo.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7121" y="5290687"/>
            <a:ext cx="11195173" cy="2529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PREEMPTIVO</a:t>
            </a:r>
          </a:p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Ato de interromper a execução de um processo para execução de um processo para executar um outro.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2903783" y="2291956"/>
            <a:ext cx="2628189" cy="2151047"/>
            <a:chOff x="0" y="0"/>
            <a:chExt cx="4267199" cy="34924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7200" cy="3492500"/>
            </a:xfrm>
            <a:custGeom>
              <a:avLst/>
              <a:gdLst/>
              <a:ahLst/>
              <a:cxnLst/>
              <a:rect r="r" b="b" t="t" l="l"/>
              <a:pathLst>
                <a:path h="34925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492500"/>
                  </a:lnTo>
                  <a:lnTo>
                    <a:pt x="0" y="349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" r="0" b="-5"/>
              </a:stretch>
            </a:blip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449648" y="5504211"/>
            <a:ext cx="4162424" cy="2676524"/>
            <a:chOff x="0" y="0"/>
            <a:chExt cx="5549899" cy="35686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549900" cy="3568700"/>
            </a:xfrm>
            <a:custGeom>
              <a:avLst/>
              <a:gdLst/>
              <a:ahLst/>
              <a:cxnLst/>
              <a:rect r="r" b="b" t="t" l="l"/>
              <a:pathLst>
                <a:path h="3568700" w="5549900">
                  <a:moveTo>
                    <a:pt x="0" y="0"/>
                  </a:moveTo>
                  <a:lnTo>
                    <a:pt x="5549900" y="0"/>
                  </a:lnTo>
                  <a:lnTo>
                    <a:pt x="5549900" y="3568700"/>
                  </a:lnTo>
                  <a:lnTo>
                    <a:pt x="0" y="356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7" r="0" b="-11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931958" y="4490628"/>
            <a:ext cx="2915920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0"/>
              </a:lnSpc>
            </a:pPr>
            <a:r>
              <a:rPr lang="en-US" sz="3700" spc="-21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windows 3.1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62347" y="8456960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06/26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25481" y="8444536"/>
            <a:ext cx="2133819" cy="813764"/>
            <a:chOff x="0" y="0"/>
            <a:chExt cx="5619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1993" cy="214325"/>
            </a:xfrm>
            <a:custGeom>
              <a:avLst/>
              <a:gdLst/>
              <a:ahLst/>
              <a:cxnLst/>
              <a:rect r="r" b="b" t="t" l="l"/>
              <a:pathLst>
                <a:path h="214325" w="561993">
                  <a:moveTo>
                    <a:pt x="72564" y="0"/>
                  </a:moveTo>
                  <a:lnTo>
                    <a:pt x="489429" y="0"/>
                  </a:lnTo>
                  <a:cubicBezTo>
                    <a:pt x="529505" y="0"/>
                    <a:pt x="561993" y="32488"/>
                    <a:pt x="561993" y="72564"/>
                  </a:cubicBezTo>
                  <a:lnTo>
                    <a:pt x="561993" y="141761"/>
                  </a:lnTo>
                  <a:cubicBezTo>
                    <a:pt x="561993" y="181837"/>
                    <a:pt x="529505" y="214325"/>
                    <a:pt x="489429" y="214325"/>
                  </a:cubicBezTo>
                  <a:lnTo>
                    <a:pt x="72564" y="214325"/>
                  </a:lnTo>
                  <a:cubicBezTo>
                    <a:pt x="32488" y="214325"/>
                    <a:pt x="0" y="181837"/>
                    <a:pt x="0" y="141761"/>
                  </a:cubicBezTo>
                  <a:lnTo>
                    <a:pt x="0" y="72564"/>
                  </a:lnTo>
                  <a:cubicBezTo>
                    <a:pt x="0" y="32488"/>
                    <a:pt x="32488" y="0"/>
                    <a:pt x="72564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619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996278"/>
            <a:ext cx="11576068" cy="239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IMPORTÂNCIA E OBJETIVO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14442143" y="-2398888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6" y="0"/>
                </a:lnTo>
                <a:lnTo>
                  <a:pt x="5344976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5375" y="3674839"/>
            <a:ext cx="9029566" cy="370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5"/>
              </a:lnSpc>
            </a:pPr>
            <a:r>
              <a:rPr lang="en-US" sz="3496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O escalonamento é fundamental para garantir o uso eficiente da CPU. Seus principais objetivos são reduzir o tempo de espera, melhorar o tempo de resposta, aumentar o desempenho do sistema e promover justiça entre os processos.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25481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07/26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033658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80158" y="9033658"/>
            <a:ext cx="2264215" cy="813764"/>
            <a:chOff x="0" y="0"/>
            <a:chExt cx="596336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6336" cy="214325"/>
            </a:xfrm>
            <a:custGeom>
              <a:avLst/>
              <a:gdLst/>
              <a:ahLst/>
              <a:cxnLst/>
              <a:rect r="r" b="b" t="t" l="l"/>
              <a:pathLst>
                <a:path h="214325" w="596336">
                  <a:moveTo>
                    <a:pt x="68385" y="0"/>
                  </a:moveTo>
                  <a:lnTo>
                    <a:pt x="527951" y="0"/>
                  </a:lnTo>
                  <a:cubicBezTo>
                    <a:pt x="565719" y="0"/>
                    <a:pt x="596336" y="30617"/>
                    <a:pt x="596336" y="68385"/>
                  </a:cubicBezTo>
                  <a:lnTo>
                    <a:pt x="596336" y="145940"/>
                  </a:lnTo>
                  <a:cubicBezTo>
                    <a:pt x="596336" y="183708"/>
                    <a:pt x="565719" y="214325"/>
                    <a:pt x="527951" y="214325"/>
                  </a:cubicBezTo>
                  <a:lnTo>
                    <a:pt x="68385" y="214325"/>
                  </a:lnTo>
                  <a:cubicBezTo>
                    <a:pt x="30617" y="214325"/>
                    <a:pt x="0" y="183708"/>
                    <a:pt x="0" y="145940"/>
                  </a:cubicBezTo>
                  <a:lnTo>
                    <a:pt x="0" y="68385"/>
                  </a:lnTo>
                  <a:cubicBezTo>
                    <a:pt x="0" y="30617"/>
                    <a:pt x="30617" y="0"/>
                    <a:pt x="68385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6336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33586" y="741955"/>
            <a:ext cx="11497148" cy="2392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IMPACTO DO ESCALONAMENTO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586" y="3102926"/>
            <a:ext cx="7944937" cy="3766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As decisões de escalonamento impactam diretamente o desempenho do sistema. A escolha adequada do algoritmo pode melhorar métricas como tempo médio de espera, turnaround e aproveitamento da CPU.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02201" y="-4232321"/>
            <a:ext cx="10406909" cy="6098861"/>
            <a:chOff x="0" y="0"/>
            <a:chExt cx="1386937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86937" cy="812800"/>
            </a:xfrm>
            <a:custGeom>
              <a:avLst/>
              <a:gdLst/>
              <a:ahLst/>
              <a:cxnLst/>
              <a:rect r="r" b="b" t="t" l="l"/>
              <a:pathLst>
                <a:path h="812800" w="1386937">
                  <a:moveTo>
                    <a:pt x="693468" y="0"/>
                  </a:moveTo>
                  <a:cubicBezTo>
                    <a:pt x="310476" y="0"/>
                    <a:pt x="0" y="181951"/>
                    <a:pt x="0" y="406400"/>
                  </a:cubicBezTo>
                  <a:cubicBezTo>
                    <a:pt x="0" y="630849"/>
                    <a:pt x="310476" y="812800"/>
                    <a:pt x="693468" y="812800"/>
                  </a:cubicBezTo>
                  <a:cubicBezTo>
                    <a:pt x="1076461" y="812800"/>
                    <a:pt x="1386937" y="630849"/>
                    <a:pt x="1386937" y="406400"/>
                  </a:cubicBezTo>
                  <a:cubicBezTo>
                    <a:pt x="1386937" y="181951"/>
                    <a:pt x="1076461" y="0"/>
                    <a:pt x="693468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0025" y="38100"/>
              <a:ext cx="112688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5400000">
            <a:off x="14586812" y="-3430357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6" y="0"/>
                </a:lnTo>
                <a:lnTo>
                  <a:pt x="5344976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144000" y="2521569"/>
            <a:ext cx="8377273" cy="4872127"/>
            <a:chOff x="0" y="0"/>
            <a:chExt cx="12966699" cy="754128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966700" cy="7541260"/>
            </a:xfrm>
            <a:custGeom>
              <a:avLst/>
              <a:gdLst/>
              <a:ahLst/>
              <a:cxnLst/>
              <a:rect r="r" b="b" t="t" l="l"/>
              <a:pathLst>
                <a:path h="7541260" w="12966700">
                  <a:moveTo>
                    <a:pt x="0" y="0"/>
                  </a:moveTo>
                  <a:lnTo>
                    <a:pt x="12966700" y="0"/>
                  </a:lnTo>
                  <a:lnTo>
                    <a:pt x="12966700" y="7541260"/>
                  </a:lnTo>
                  <a:lnTo>
                    <a:pt x="0" y="75412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087403" y="9044616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08/26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70787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685999" y="9270787"/>
            <a:ext cx="1677434" cy="813764"/>
            <a:chOff x="0" y="0"/>
            <a:chExt cx="4417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6880" y="559497"/>
            <a:ext cx="11389398" cy="184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RELAÇÃO COM A ARQUITETURA DE COMPUTADORES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2201" y="-4232321"/>
            <a:ext cx="10406909" cy="6098861"/>
            <a:chOff x="0" y="0"/>
            <a:chExt cx="1386937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6937" cy="812800"/>
            </a:xfrm>
            <a:custGeom>
              <a:avLst/>
              <a:gdLst/>
              <a:ahLst/>
              <a:cxnLst/>
              <a:rect r="r" b="b" t="t" l="l"/>
              <a:pathLst>
                <a:path h="812800" w="1386937">
                  <a:moveTo>
                    <a:pt x="693468" y="0"/>
                  </a:moveTo>
                  <a:cubicBezTo>
                    <a:pt x="310476" y="0"/>
                    <a:pt x="0" y="181951"/>
                    <a:pt x="0" y="406400"/>
                  </a:cubicBezTo>
                  <a:cubicBezTo>
                    <a:pt x="0" y="630849"/>
                    <a:pt x="310476" y="812800"/>
                    <a:pt x="693468" y="812800"/>
                  </a:cubicBezTo>
                  <a:cubicBezTo>
                    <a:pt x="1076461" y="812800"/>
                    <a:pt x="1386937" y="630849"/>
                    <a:pt x="1386937" y="406400"/>
                  </a:cubicBezTo>
                  <a:cubicBezTo>
                    <a:pt x="1386937" y="181951"/>
                    <a:pt x="1076461" y="0"/>
                    <a:pt x="693468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0025" y="38100"/>
              <a:ext cx="112688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5400000">
            <a:off x="14586812" y="-3430357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6" y="0"/>
                </a:lnTo>
                <a:lnTo>
                  <a:pt x="5344976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902201" y="2520315"/>
            <a:ext cx="6357099" cy="5246370"/>
            <a:chOff x="0" y="0"/>
            <a:chExt cx="984881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84881" cy="812800"/>
            </a:xfrm>
            <a:custGeom>
              <a:avLst/>
              <a:gdLst/>
              <a:ahLst/>
              <a:cxnLst/>
              <a:rect r="r" b="b" t="t" l="l"/>
              <a:pathLst>
                <a:path h="812800" w="984881">
                  <a:moveTo>
                    <a:pt x="0" y="0"/>
                  </a:moveTo>
                  <a:lnTo>
                    <a:pt x="984881" y="0"/>
                  </a:lnTo>
                  <a:lnTo>
                    <a:pt x="98488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12050" t="0" r="-1205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356880" y="2927344"/>
            <a:ext cx="9562801" cy="435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3533" b="true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O escalonamento está diretamente ligado à arquitetura de computadores, pois controla o uso da CPU — um dos componentes centrais do sistema. Ele atua como uma ponte entre software e hardware, utilizando mecanismos como registradores, interrupções e filas de execução.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13708" y="9281745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09/26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6880" y="1031937"/>
            <a:ext cx="14074390" cy="103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99"/>
              </a:lnSpc>
            </a:pPr>
            <a:r>
              <a:rPr lang="en-US" sz="7599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MOTIVAÇÃO PARA O SIMULADOR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44424" y="-4844117"/>
            <a:ext cx="10406909" cy="6098861"/>
            <a:chOff x="0" y="0"/>
            <a:chExt cx="1386937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6937" cy="812800"/>
            </a:xfrm>
            <a:custGeom>
              <a:avLst/>
              <a:gdLst/>
              <a:ahLst/>
              <a:cxnLst/>
              <a:rect r="r" b="b" t="t" l="l"/>
              <a:pathLst>
                <a:path h="812800" w="1386937">
                  <a:moveTo>
                    <a:pt x="693468" y="0"/>
                  </a:moveTo>
                  <a:cubicBezTo>
                    <a:pt x="310476" y="0"/>
                    <a:pt x="0" y="181951"/>
                    <a:pt x="0" y="406400"/>
                  </a:cubicBezTo>
                  <a:cubicBezTo>
                    <a:pt x="0" y="630849"/>
                    <a:pt x="310476" y="812800"/>
                    <a:pt x="693468" y="812800"/>
                  </a:cubicBezTo>
                  <a:cubicBezTo>
                    <a:pt x="1076461" y="812800"/>
                    <a:pt x="1386937" y="630849"/>
                    <a:pt x="1386937" y="406400"/>
                  </a:cubicBezTo>
                  <a:cubicBezTo>
                    <a:pt x="1386937" y="181951"/>
                    <a:pt x="1076461" y="0"/>
                    <a:pt x="693468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30025" y="38100"/>
              <a:ext cx="112688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15179265" y="-3901844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7" y="0"/>
                </a:lnTo>
                <a:lnTo>
                  <a:pt x="5344977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3493" y="2586315"/>
            <a:ext cx="2684017" cy="4025359"/>
          </a:xfrm>
          <a:custGeom>
            <a:avLst/>
            <a:gdLst/>
            <a:ahLst/>
            <a:cxnLst/>
            <a:rect r="r" b="b" t="t" l="l"/>
            <a:pathLst>
              <a:path h="4025359" w="2684017">
                <a:moveTo>
                  <a:pt x="0" y="0"/>
                </a:moveTo>
                <a:lnTo>
                  <a:pt x="2684017" y="0"/>
                </a:lnTo>
                <a:lnTo>
                  <a:pt x="2684017" y="4025359"/>
                </a:lnTo>
                <a:lnTo>
                  <a:pt x="0" y="40253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60071" y="2586315"/>
            <a:ext cx="2684017" cy="4025359"/>
          </a:xfrm>
          <a:custGeom>
            <a:avLst/>
            <a:gdLst/>
            <a:ahLst/>
            <a:cxnLst/>
            <a:rect r="r" b="b" t="t" l="l"/>
            <a:pathLst>
              <a:path h="4025359" w="2684017">
                <a:moveTo>
                  <a:pt x="0" y="0"/>
                </a:moveTo>
                <a:lnTo>
                  <a:pt x="2684017" y="0"/>
                </a:lnTo>
                <a:lnTo>
                  <a:pt x="2684017" y="4025359"/>
                </a:lnTo>
                <a:lnTo>
                  <a:pt x="0" y="40253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57716" y="5291504"/>
            <a:ext cx="4572744" cy="2640340"/>
          </a:xfrm>
          <a:custGeom>
            <a:avLst/>
            <a:gdLst/>
            <a:ahLst/>
            <a:cxnLst/>
            <a:rect r="r" b="b" t="t" l="l"/>
            <a:pathLst>
              <a:path h="2640340" w="4572744">
                <a:moveTo>
                  <a:pt x="0" y="0"/>
                </a:moveTo>
                <a:lnTo>
                  <a:pt x="4572744" y="0"/>
                </a:lnTo>
                <a:lnTo>
                  <a:pt x="4572744" y="2640341"/>
                </a:lnTo>
                <a:lnTo>
                  <a:pt x="0" y="26403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460071" y="4262804"/>
            <a:ext cx="268401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Aprendizagem  Gráfica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42562" y="6078274"/>
            <a:ext cx="3001862" cy="101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Reflexão sobre Decisões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551961" y="2894920"/>
            <a:ext cx="1873465" cy="573648"/>
          </a:xfrm>
          <a:custGeom>
            <a:avLst/>
            <a:gdLst/>
            <a:ahLst/>
            <a:cxnLst/>
            <a:rect r="r" b="b" t="t" l="l"/>
            <a:pathLst>
              <a:path h="573648" w="1873465">
                <a:moveTo>
                  <a:pt x="0" y="0"/>
                </a:moveTo>
                <a:lnTo>
                  <a:pt x="1873465" y="0"/>
                </a:lnTo>
                <a:lnTo>
                  <a:pt x="1873465" y="573648"/>
                </a:lnTo>
                <a:lnTo>
                  <a:pt x="0" y="5736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3" id="13"/>
          <p:cNvSpPr txBox="true"/>
          <p:nvPr/>
        </p:nvSpPr>
        <p:spPr>
          <a:xfrm rot="0">
            <a:off x="12245878" y="4011493"/>
            <a:ext cx="6042122" cy="1889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Facilita a análise e a compreensão prática dos aspectos teoricos.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94874">
            <a:off x="4976098" y="2814230"/>
            <a:ext cx="1873465" cy="573648"/>
          </a:xfrm>
          <a:custGeom>
            <a:avLst/>
            <a:gdLst/>
            <a:ahLst/>
            <a:cxnLst/>
            <a:rect r="r" b="b" t="t" l="l"/>
            <a:pathLst>
              <a:path h="573648" w="1873465">
                <a:moveTo>
                  <a:pt x="1873465" y="0"/>
                </a:moveTo>
                <a:lnTo>
                  <a:pt x="0" y="0"/>
                </a:lnTo>
                <a:lnTo>
                  <a:pt x="0" y="573647"/>
                </a:lnTo>
                <a:lnTo>
                  <a:pt x="1873465" y="573647"/>
                </a:lnTo>
                <a:lnTo>
                  <a:pt x="1873465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5" id="15"/>
          <p:cNvSpPr txBox="true"/>
          <p:nvPr/>
        </p:nvSpPr>
        <p:spPr>
          <a:xfrm rot="0">
            <a:off x="444637" y="3846195"/>
            <a:ext cx="5596333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Permite visualizar o comportamento dos algoritmos de escalonamento em tempo real.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354148" y="8227120"/>
            <a:ext cx="789940" cy="825500"/>
          </a:xfrm>
          <a:custGeom>
            <a:avLst/>
            <a:gdLst/>
            <a:ahLst/>
            <a:cxnLst/>
            <a:rect r="r" b="b" t="t" l="l"/>
            <a:pathLst>
              <a:path h="825500" w="789940">
                <a:moveTo>
                  <a:pt x="0" y="0"/>
                </a:moveTo>
                <a:lnTo>
                  <a:pt x="789940" y="0"/>
                </a:lnTo>
                <a:lnTo>
                  <a:pt x="78994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-3408575" y="9281220"/>
            <a:ext cx="24459907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Promove aprendizado mais concreto e visual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532726" y="9080867"/>
            <a:ext cx="2003423" cy="813764"/>
            <a:chOff x="0" y="0"/>
            <a:chExt cx="527651" cy="2143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7651" cy="214325"/>
            </a:xfrm>
            <a:custGeom>
              <a:avLst/>
              <a:gdLst/>
              <a:ahLst/>
              <a:cxnLst/>
              <a:rect r="r" b="b" t="t" l="l"/>
              <a:pathLst>
                <a:path h="214325" w="527651">
                  <a:moveTo>
                    <a:pt x="77287" y="0"/>
                  </a:moveTo>
                  <a:lnTo>
                    <a:pt x="450364" y="0"/>
                  </a:lnTo>
                  <a:cubicBezTo>
                    <a:pt x="493048" y="0"/>
                    <a:pt x="527651" y="34603"/>
                    <a:pt x="527651" y="77287"/>
                  </a:cubicBezTo>
                  <a:lnTo>
                    <a:pt x="527651" y="137038"/>
                  </a:lnTo>
                  <a:cubicBezTo>
                    <a:pt x="527651" y="179722"/>
                    <a:pt x="493048" y="214325"/>
                    <a:pt x="450364" y="214325"/>
                  </a:cubicBezTo>
                  <a:lnTo>
                    <a:pt x="77287" y="214325"/>
                  </a:lnTo>
                  <a:cubicBezTo>
                    <a:pt x="34603" y="214325"/>
                    <a:pt x="0" y="179722"/>
                    <a:pt x="0" y="137038"/>
                  </a:cubicBezTo>
                  <a:lnTo>
                    <a:pt x="0" y="77287"/>
                  </a:lnTo>
                  <a:cubicBezTo>
                    <a:pt x="0" y="34603"/>
                    <a:pt x="34603" y="0"/>
                    <a:pt x="7728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7651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5809575" y="9091825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10/26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3493" y="4240093"/>
            <a:ext cx="268401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Abordagem Prática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4966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92882" y="8851418"/>
            <a:ext cx="2166418" cy="813764"/>
            <a:chOff x="0" y="0"/>
            <a:chExt cx="570579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0579" cy="214325"/>
            </a:xfrm>
            <a:custGeom>
              <a:avLst/>
              <a:gdLst/>
              <a:ahLst/>
              <a:cxnLst/>
              <a:rect r="r" b="b" t="t" l="l"/>
              <a:pathLst>
                <a:path h="214325" w="570579">
                  <a:moveTo>
                    <a:pt x="71472" y="0"/>
                  </a:moveTo>
                  <a:lnTo>
                    <a:pt x="499107" y="0"/>
                  </a:lnTo>
                  <a:cubicBezTo>
                    <a:pt x="518063" y="0"/>
                    <a:pt x="536242" y="7530"/>
                    <a:pt x="549645" y="20934"/>
                  </a:cubicBezTo>
                  <a:cubicBezTo>
                    <a:pt x="563049" y="34337"/>
                    <a:pt x="570579" y="52517"/>
                    <a:pt x="570579" y="71472"/>
                  </a:cubicBezTo>
                  <a:lnTo>
                    <a:pt x="570579" y="142852"/>
                  </a:lnTo>
                  <a:cubicBezTo>
                    <a:pt x="570579" y="161808"/>
                    <a:pt x="563049" y="179987"/>
                    <a:pt x="549645" y="193391"/>
                  </a:cubicBezTo>
                  <a:cubicBezTo>
                    <a:pt x="536242" y="206794"/>
                    <a:pt x="518063" y="214325"/>
                    <a:pt x="499107" y="214325"/>
                  </a:cubicBezTo>
                  <a:lnTo>
                    <a:pt x="71472" y="214325"/>
                  </a:lnTo>
                  <a:cubicBezTo>
                    <a:pt x="52517" y="214325"/>
                    <a:pt x="34337" y="206794"/>
                    <a:pt x="20934" y="193391"/>
                  </a:cubicBezTo>
                  <a:cubicBezTo>
                    <a:pt x="7530" y="179987"/>
                    <a:pt x="0" y="161808"/>
                    <a:pt x="0" y="142852"/>
                  </a:cubicBezTo>
                  <a:lnTo>
                    <a:pt x="0" y="71472"/>
                  </a:lnTo>
                  <a:cubicBezTo>
                    <a:pt x="0" y="52517"/>
                    <a:pt x="7530" y="34337"/>
                    <a:pt x="20934" y="20934"/>
                  </a:cubicBezTo>
                  <a:cubicBezTo>
                    <a:pt x="34337" y="7530"/>
                    <a:pt x="52517" y="0"/>
                    <a:pt x="71472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70579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FIFO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1564" y="2663779"/>
            <a:ext cx="9270276" cy="251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First In, First Out (FIFO)</a:t>
            </a:r>
          </a:p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Processos são atendidos por ordem de chegada.</a:t>
            </a: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61564" y="5783249"/>
            <a:ext cx="11195173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Fácil de implementar 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Justo com a ordem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1564" y="7587922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Espera Longa para processos curtos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1564" y="4469764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simples (ex: batch jobs)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62347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11/26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8820386" y="3021426"/>
            <a:ext cx="9227806" cy="4244147"/>
            <a:chOff x="0" y="0"/>
            <a:chExt cx="14579599" cy="670559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79600" cy="6705600"/>
            </a:xfrm>
            <a:custGeom>
              <a:avLst/>
              <a:gdLst/>
              <a:ahLst/>
              <a:cxnLst/>
              <a:rect r="r" b="b" t="t" l="l"/>
              <a:pathLst>
                <a:path h="6705600" w="14579600">
                  <a:moveTo>
                    <a:pt x="0" y="0"/>
                  </a:moveTo>
                  <a:lnTo>
                    <a:pt x="14579600" y="0"/>
                  </a:lnTo>
                  <a:lnTo>
                    <a:pt x="14579600" y="6705600"/>
                  </a:lnTo>
                  <a:lnTo>
                    <a:pt x="0" y="670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" t="0" r="-55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653902" y="7528233"/>
            <a:ext cx="6266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5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Figura 5:Representeção do sistema	FIFO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092882" y="8851418"/>
            <a:ext cx="2166418" cy="813764"/>
            <a:chOff x="0" y="0"/>
            <a:chExt cx="570579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0579" cy="214325"/>
            </a:xfrm>
            <a:custGeom>
              <a:avLst/>
              <a:gdLst/>
              <a:ahLst/>
              <a:cxnLst/>
              <a:rect r="r" b="b" t="t" l="l"/>
              <a:pathLst>
                <a:path h="214325" w="570579">
                  <a:moveTo>
                    <a:pt x="71472" y="0"/>
                  </a:moveTo>
                  <a:lnTo>
                    <a:pt x="499107" y="0"/>
                  </a:lnTo>
                  <a:cubicBezTo>
                    <a:pt x="518063" y="0"/>
                    <a:pt x="536242" y="7530"/>
                    <a:pt x="549645" y="20934"/>
                  </a:cubicBezTo>
                  <a:cubicBezTo>
                    <a:pt x="563049" y="34337"/>
                    <a:pt x="570579" y="52517"/>
                    <a:pt x="570579" y="71472"/>
                  </a:cubicBezTo>
                  <a:lnTo>
                    <a:pt x="570579" y="142852"/>
                  </a:lnTo>
                  <a:cubicBezTo>
                    <a:pt x="570579" y="161808"/>
                    <a:pt x="563049" y="179987"/>
                    <a:pt x="549645" y="193391"/>
                  </a:cubicBezTo>
                  <a:cubicBezTo>
                    <a:pt x="536242" y="206794"/>
                    <a:pt x="518063" y="214325"/>
                    <a:pt x="499107" y="214325"/>
                  </a:cubicBezTo>
                  <a:lnTo>
                    <a:pt x="71472" y="214325"/>
                  </a:lnTo>
                  <a:cubicBezTo>
                    <a:pt x="52517" y="214325"/>
                    <a:pt x="34337" y="206794"/>
                    <a:pt x="20934" y="193391"/>
                  </a:cubicBezTo>
                  <a:cubicBezTo>
                    <a:pt x="7530" y="179987"/>
                    <a:pt x="0" y="161808"/>
                    <a:pt x="0" y="142852"/>
                  </a:cubicBezTo>
                  <a:lnTo>
                    <a:pt x="0" y="71472"/>
                  </a:lnTo>
                  <a:cubicBezTo>
                    <a:pt x="0" y="52517"/>
                    <a:pt x="7530" y="34337"/>
                    <a:pt x="20934" y="20934"/>
                  </a:cubicBezTo>
                  <a:cubicBezTo>
                    <a:pt x="34337" y="7530"/>
                    <a:pt x="52517" y="0"/>
                    <a:pt x="71472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0579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50910" y="1169076"/>
            <a:ext cx="10369701" cy="7777276"/>
          </a:xfrm>
          <a:custGeom>
            <a:avLst/>
            <a:gdLst/>
            <a:ahLst/>
            <a:cxnLst/>
            <a:rect r="r" b="b" t="t" l="l"/>
            <a:pathLst>
              <a:path h="7777276" w="10369701">
                <a:moveTo>
                  <a:pt x="0" y="0"/>
                </a:moveTo>
                <a:lnTo>
                  <a:pt x="10369701" y="0"/>
                </a:lnTo>
                <a:lnTo>
                  <a:pt x="10369701" y="7777276"/>
                </a:lnTo>
                <a:lnTo>
                  <a:pt x="0" y="7777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7602" y="142875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FIFO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51229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12/26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93442" y="9066051"/>
            <a:ext cx="6266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5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Figura 6: Gráfico Algoritmo  FIFO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4966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162347" y="8870179"/>
            <a:ext cx="2434770" cy="813764"/>
            <a:chOff x="0" y="0"/>
            <a:chExt cx="641256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1256" cy="214325"/>
            </a:xfrm>
            <a:custGeom>
              <a:avLst/>
              <a:gdLst/>
              <a:ahLst/>
              <a:cxnLst/>
              <a:rect r="r" b="b" t="t" l="l"/>
              <a:pathLst>
                <a:path h="214325" w="641256">
                  <a:moveTo>
                    <a:pt x="63595" y="0"/>
                  </a:moveTo>
                  <a:lnTo>
                    <a:pt x="577662" y="0"/>
                  </a:lnTo>
                  <a:cubicBezTo>
                    <a:pt x="612784" y="0"/>
                    <a:pt x="641256" y="28472"/>
                    <a:pt x="641256" y="63595"/>
                  </a:cubicBezTo>
                  <a:lnTo>
                    <a:pt x="641256" y="150730"/>
                  </a:lnTo>
                  <a:cubicBezTo>
                    <a:pt x="641256" y="167596"/>
                    <a:pt x="634556" y="183772"/>
                    <a:pt x="622630" y="195698"/>
                  </a:cubicBezTo>
                  <a:cubicBezTo>
                    <a:pt x="610704" y="207624"/>
                    <a:pt x="594528" y="214325"/>
                    <a:pt x="577662" y="214325"/>
                  </a:cubicBezTo>
                  <a:lnTo>
                    <a:pt x="63595" y="214325"/>
                  </a:lnTo>
                  <a:cubicBezTo>
                    <a:pt x="46728" y="214325"/>
                    <a:pt x="30553" y="207624"/>
                    <a:pt x="18626" y="195698"/>
                  </a:cubicBezTo>
                  <a:cubicBezTo>
                    <a:pt x="6700" y="183772"/>
                    <a:pt x="0" y="167596"/>
                    <a:pt x="0" y="150730"/>
                  </a:cubicBezTo>
                  <a:lnTo>
                    <a:pt x="0" y="63595"/>
                  </a:lnTo>
                  <a:cubicBezTo>
                    <a:pt x="0" y="46728"/>
                    <a:pt x="6700" y="30553"/>
                    <a:pt x="18626" y="18626"/>
                  </a:cubicBezTo>
                  <a:cubicBezTo>
                    <a:pt x="30553" y="6700"/>
                    <a:pt x="46728" y="0"/>
                    <a:pt x="63595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1256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SJF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7121" y="2676430"/>
            <a:ext cx="12499130" cy="189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Job First(SJF)</a:t>
            </a:r>
          </a:p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Processos com </a:t>
            </a: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menor duração restante</a:t>
            </a: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 tem prioridade.</a:t>
            </a: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7121" y="5176428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Menor tempo médio de espera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121" y="6660624"/>
            <a:ext cx="8823571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Exige conhecimento prévio do tempo de execução.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227" y="3982673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com previsibilidade de execução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43916" y="6700384"/>
            <a:ext cx="7844155" cy="188595"/>
            <a:chOff x="0" y="0"/>
            <a:chExt cx="1045887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58831" cy="250952"/>
            </a:xfrm>
            <a:custGeom>
              <a:avLst/>
              <a:gdLst/>
              <a:ahLst/>
              <a:cxnLst/>
              <a:rect r="r" b="b" t="t" l="l"/>
              <a:pathLst>
                <a:path h="250952" w="10458831">
                  <a:moveTo>
                    <a:pt x="10458831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0458831" y="0"/>
                  </a:lnTo>
                  <a:lnTo>
                    <a:pt x="10458831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443914" y="5384300"/>
            <a:ext cx="1276349" cy="1314449"/>
            <a:chOff x="0" y="0"/>
            <a:chExt cx="1701799" cy="17525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1800" cy="1752600"/>
            </a:xfrm>
            <a:custGeom>
              <a:avLst/>
              <a:gdLst/>
              <a:ahLst/>
              <a:cxnLst/>
              <a:rect r="r" b="b" t="t" l="l"/>
              <a:pathLst>
                <a:path h="1752600" w="1701800">
                  <a:moveTo>
                    <a:pt x="0" y="0"/>
                  </a:moveTo>
                  <a:lnTo>
                    <a:pt x="1701800" y="0"/>
                  </a:lnTo>
                  <a:lnTo>
                    <a:pt x="17018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045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0443914" y="5636756"/>
            <a:ext cx="1276349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0    2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176497" y="7522706"/>
            <a:ext cx="5465266" cy="62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</a:t>
            </a: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xemplo do algoritmo SJF.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62347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13/26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4966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50752" y="8851418"/>
            <a:ext cx="2308548" cy="813764"/>
            <a:chOff x="0" y="0"/>
            <a:chExt cx="60801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013" cy="214325"/>
            </a:xfrm>
            <a:custGeom>
              <a:avLst/>
              <a:gdLst/>
              <a:ahLst/>
              <a:cxnLst/>
              <a:rect r="r" b="b" t="t" l="l"/>
              <a:pathLst>
                <a:path h="214325" w="608013">
                  <a:moveTo>
                    <a:pt x="67072" y="0"/>
                  </a:moveTo>
                  <a:lnTo>
                    <a:pt x="540941" y="0"/>
                  </a:lnTo>
                  <a:cubicBezTo>
                    <a:pt x="558729" y="0"/>
                    <a:pt x="575789" y="7066"/>
                    <a:pt x="588368" y="19645"/>
                  </a:cubicBezTo>
                  <a:cubicBezTo>
                    <a:pt x="600946" y="32223"/>
                    <a:pt x="608013" y="49283"/>
                    <a:pt x="608013" y="67072"/>
                  </a:cubicBezTo>
                  <a:lnTo>
                    <a:pt x="608013" y="147253"/>
                  </a:lnTo>
                  <a:cubicBezTo>
                    <a:pt x="608013" y="165041"/>
                    <a:pt x="600946" y="182101"/>
                    <a:pt x="588368" y="194680"/>
                  </a:cubicBezTo>
                  <a:cubicBezTo>
                    <a:pt x="575789" y="207258"/>
                    <a:pt x="558729" y="214325"/>
                    <a:pt x="540941" y="214325"/>
                  </a:cubicBezTo>
                  <a:lnTo>
                    <a:pt x="67072" y="214325"/>
                  </a:lnTo>
                  <a:cubicBezTo>
                    <a:pt x="49283" y="214325"/>
                    <a:pt x="32223" y="207258"/>
                    <a:pt x="19645" y="194680"/>
                  </a:cubicBezTo>
                  <a:cubicBezTo>
                    <a:pt x="7066" y="182101"/>
                    <a:pt x="0" y="165041"/>
                    <a:pt x="0" y="147253"/>
                  </a:cubicBezTo>
                  <a:lnTo>
                    <a:pt x="0" y="67072"/>
                  </a:lnTo>
                  <a:cubicBezTo>
                    <a:pt x="0" y="49283"/>
                    <a:pt x="7066" y="32223"/>
                    <a:pt x="19645" y="19645"/>
                  </a:cubicBezTo>
                  <a:cubicBezTo>
                    <a:pt x="32223" y="7066"/>
                    <a:pt x="49283" y="0"/>
                    <a:pt x="67072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801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SJF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7121" y="2676430"/>
            <a:ext cx="12499130" cy="189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Job First(SJF)</a:t>
            </a:r>
          </a:p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Processos com </a:t>
            </a: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menor duração restante</a:t>
            </a: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 tem prioridade.</a:t>
            </a: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7121" y="5176428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Menor tempo médio de espera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121" y="6660624"/>
            <a:ext cx="8823571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Exige conhecimento prévio do tempo de execução.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227" y="3982673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com previsibilidade de execução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43916" y="6700384"/>
            <a:ext cx="7844155" cy="188595"/>
            <a:chOff x="0" y="0"/>
            <a:chExt cx="1045887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58831" cy="250952"/>
            </a:xfrm>
            <a:custGeom>
              <a:avLst/>
              <a:gdLst/>
              <a:ahLst/>
              <a:cxnLst/>
              <a:rect r="r" b="b" t="t" l="l"/>
              <a:pathLst>
                <a:path h="250952" w="10458831">
                  <a:moveTo>
                    <a:pt x="10458831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0458831" y="0"/>
                  </a:lnTo>
                  <a:lnTo>
                    <a:pt x="10458831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443914" y="5384303"/>
            <a:ext cx="3018366" cy="1314449"/>
            <a:chOff x="0" y="0"/>
            <a:chExt cx="4024488" cy="17525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24503" cy="1752600"/>
            </a:xfrm>
            <a:custGeom>
              <a:avLst/>
              <a:gdLst/>
              <a:ahLst/>
              <a:cxnLst/>
              <a:rect r="r" b="b" t="t" l="l"/>
              <a:pathLst>
                <a:path h="1752600" w="4024503">
                  <a:moveTo>
                    <a:pt x="0" y="0"/>
                  </a:moveTo>
                  <a:lnTo>
                    <a:pt x="4024503" y="0"/>
                  </a:lnTo>
                  <a:lnTo>
                    <a:pt x="4024503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21" r="0" b="-32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443914" y="5636756"/>
            <a:ext cx="1276349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0    2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953097" y="5636756"/>
            <a:ext cx="1509183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 6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1176497" y="7522706"/>
            <a:ext cx="5465266" cy="62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</a:t>
            </a: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xemplo do algoritmo SJF.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62347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14/26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84966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87641" y="8851418"/>
            <a:ext cx="2371659" cy="813764"/>
            <a:chOff x="0" y="0"/>
            <a:chExt cx="624634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4634" cy="214325"/>
            </a:xfrm>
            <a:custGeom>
              <a:avLst/>
              <a:gdLst/>
              <a:ahLst/>
              <a:cxnLst/>
              <a:rect r="r" b="b" t="t" l="l"/>
              <a:pathLst>
                <a:path h="214325" w="624634">
                  <a:moveTo>
                    <a:pt x="65287" y="0"/>
                  </a:moveTo>
                  <a:lnTo>
                    <a:pt x="559348" y="0"/>
                  </a:lnTo>
                  <a:cubicBezTo>
                    <a:pt x="576663" y="0"/>
                    <a:pt x="593269" y="6878"/>
                    <a:pt x="605512" y="19122"/>
                  </a:cubicBezTo>
                  <a:cubicBezTo>
                    <a:pt x="617756" y="31366"/>
                    <a:pt x="624634" y="47972"/>
                    <a:pt x="624634" y="65287"/>
                  </a:cubicBezTo>
                  <a:lnTo>
                    <a:pt x="624634" y="149038"/>
                  </a:lnTo>
                  <a:cubicBezTo>
                    <a:pt x="624634" y="185095"/>
                    <a:pt x="595405" y="214325"/>
                    <a:pt x="559348" y="214325"/>
                  </a:cubicBezTo>
                  <a:lnTo>
                    <a:pt x="65287" y="214325"/>
                  </a:lnTo>
                  <a:cubicBezTo>
                    <a:pt x="29230" y="214325"/>
                    <a:pt x="0" y="185095"/>
                    <a:pt x="0" y="149038"/>
                  </a:cubicBezTo>
                  <a:lnTo>
                    <a:pt x="0" y="65287"/>
                  </a:lnTo>
                  <a:cubicBezTo>
                    <a:pt x="0" y="29230"/>
                    <a:pt x="29230" y="0"/>
                    <a:pt x="6528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24634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SJF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7121" y="2676430"/>
            <a:ext cx="12499130" cy="1899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Job First(SJF)</a:t>
            </a:r>
          </a:p>
          <a:p>
            <a:pPr algn="l">
              <a:lnSpc>
                <a:spcPts val="5004"/>
              </a:lnSpc>
            </a:pP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Processos com </a:t>
            </a: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menor duração restante</a:t>
            </a:r>
            <a:r>
              <a:rPr lang="en-US" sz="35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 tem prioridade.</a:t>
            </a: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7121" y="5176428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Menor tempo médio de espera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121" y="6660624"/>
            <a:ext cx="8854371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Exige conhecimento prévio do tempo de execução.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7227" y="3982673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com previsibilidade de execução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43916" y="6700384"/>
            <a:ext cx="7844155" cy="188595"/>
            <a:chOff x="0" y="0"/>
            <a:chExt cx="1045887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58831" cy="250952"/>
            </a:xfrm>
            <a:custGeom>
              <a:avLst/>
              <a:gdLst/>
              <a:ahLst/>
              <a:cxnLst/>
              <a:rect r="r" b="b" t="t" l="l"/>
              <a:pathLst>
                <a:path h="250952" w="10458831">
                  <a:moveTo>
                    <a:pt x="10458831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0458831" y="0"/>
                  </a:lnTo>
                  <a:lnTo>
                    <a:pt x="10458831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0443914" y="5384301"/>
            <a:ext cx="5123248" cy="1314450"/>
            <a:chOff x="0" y="0"/>
            <a:chExt cx="6830997" cy="1752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30949" cy="1752600"/>
            </a:xfrm>
            <a:custGeom>
              <a:avLst/>
              <a:gdLst/>
              <a:ahLst/>
              <a:cxnLst/>
              <a:rect r="r" b="b" t="t" l="l"/>
              <a:pathLst>
                <a:path h="1752600" w="6830949">
                  <a:moveTo>
                    <a:pt x="0" y="0"/>
                  </a:moveTo>
                  <a:lnTo>
                    <a:pt x="6830949" y="0"/>
                  </a:lnTo>
                  <a:lnTo>
                    <a:pt x="6830949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10" r="0" b="-31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53097" y="5636756"/>
            <a:ext cx="1509183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 6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443914" y="5636756"/>
            <a:ext cx="1276349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0    2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690880" y="5591355"/>
            <a:ext cx="1890986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A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 16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176497" y="7522706"/>
            <a:ext cx="5465266" cy="62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E</a:t>
            </a: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xemplo do algoritmo SJF.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2347" y="8862376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15/26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03198" y="8851418"/>
            <a:ext cx="2056102" cy="813764"/>
            <a:chOff x="0" y="0"/>
            <a:chExt cx="541525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1525" cy="214325"/>
            </a:xfrm>
            <a:custGeom>
              <a:avLst/>
              <a:gdLst/>
              <a:ahLst/>
              <a:cxnLst/>
              <a:rect r="r" b="b" t="t" l="l"/>
              <a:pathLst>
                <a:path h="214325" w="541525">
                  <a:moveTo>
                    <a:pt x="75307" y="0"/>
                  </a:moveTo>
                  <a:lnTo>
                    <a:pt x="466218" y="0"/>
                  </a:lnTo>
                  <a:cubicBezTo>
                    <a:pt x="507809" y="0"/>
                    <a:pt x="541525" y="33716"/>
                    <a:pt x="541525" y="75307"/>
                  </a:cubicBezTo>
                  <a:lnTo>
                    <a:pt x="541525" y="139018"/>
                  </a:lnTo>
                  <a:cubicBezTo>
                    <a:pt x="541525" y="158990"/>
                    <a:pt x="533591" y="178145"/>
                    <a:pt x="519468" y="192268"/>
                  </a:cubicBezTo>
                  <a:cubicBezTo>
                    <a:pt x="505345" y="206390"/>
                    <a:pt x="486191" y="214325"/>
                    <a:pt x="466218" y="214325"/>
                  </a:cubicBezTo>
                  <a:lnTo>
                    <a:pt x="75307" y="214325"/>
                  </a:lnTo>
                  <a:cubicBezTo>
                    <a:pt x="55334" y="214325"/>
                    <a:pt x="36180" y="206390"/>
                    <a:pt x="22057" y="192268"/>
                  </a:cubicBezTo>
                  <a:cubicBezTo>
                    <a:pt x="7934" y="178145"/>
                    <a:pt x="0" y="158990"/>
                    <a:pt x="0" y="139018"/>
                  </a:cubicBezTo>
                  <a:lnTo>
                    <a:pt x="0" y="75307"/>
                  </a:lnTo>
                  <a:cubicBezTo>
                    <a:pt x="0" y="55334"/>
                    <a:pt x="7934" y="36180"/>
                    <a:pt x="22057" y="22057"/>
                  </a:cubicBezTo>
                  <a:cubicBezTo>
                    <a:pt x="36180" y="7934"/>
                    <a:pt x="55334" y="0"/>
                    <a:pt x="75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41525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03563" y="1381125"/>
            <a:ext cx="10599892" cy="7877175"/>
          </a:xfrm>
          <a:custGeom>
            <a:avLst/>
            <a:gdLst/>
            <a:ahLst/>
            <a:cxnLst/>
            <a:rect r="r" b="b" t="t" l="l"/>
            <a:pathLst>
              <a:path h="7877175" w="10599892">
                <a:moveTo>
                  <a:pt x="0" y="0"/>
                </a:moveTo>
                <a:lnTo>
                  <a:pt x="10599893" y="0"/>
                </a:lnTo>
                <a:lnTo>
                  <a:pt x="10599893" y="7877175"/>
                </a:lnTo>
                <a:lnTo>
                  <a:pt x="0" y="78771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7668" y="142875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SJF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82776" y="9432764"/>
            <a:ext cx="6266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5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Figura 7: Gráfico Algoritmo  SJF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51229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16/26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75409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34638" y="8754099"/>
            <a:ext cx="1677434" cy="813764"/>
            <a:chOff x="0" y="0"/>
            <a:chExt cx="4417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4675" y="950590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SRTN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675" y="2455540"/>
            <a:ext cx="11195173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Remaining Time Next (SRTN)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4675" y="5363829"/>
            <a:ext cx="8319325" cy="19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Melhor tempo médio de espera de resposta.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87551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Mais complexo de implementar.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675" y="3895397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interstivos e de tempo real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21365" y="6411956"/>
            <a:ext cx="8667115" cy="188595"/>
            <a:chOff x="0" y="0"/>
            <a:chExt cx="1155615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55476" cy="250952"/>
            </a:xfrm>
            <a:custGeom>
              <a:avLst/>
              <a:gdLst/>
              <a:ahLst/>
              <a:cxnLst/>
              <a:rect r="r" b="b" t="t" l="l"/>
              <a:pathLst>
                <a:path h="250952" w="11555476">
                  <a:moveTo>
                    <a:pt x="11555476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1555476" y="0"/>
                  </a:lnTo>
                  <a:lnTo>
                    <a:pt x="11555476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602315" y="5143500"/>
            <a:ext cx="1409699" cy="1262964"/>
            <a:chOff x="0" y="0"/>
            <a:chExt cx="1879599" cy="1683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8990" y="5423845"/>
            <a:ext cx="142036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0      3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5048493" y="876505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17/26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75409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34638" y="8754099"/>
            <a:ext cx="1677434" cy="813764"/>
            <a:chOff x="0" y="0"/>
            <a:chExt cx="4417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4675" y="950590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SRTN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675" y="2455540"/>
            <a:ext cx="11195173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Remaining Time Next (SRTN)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4675" y="5363829"/>
            <a:ext cx="8319325" cy="19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Melhor tempo médio de espera de resposta.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87551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Mais complexo de implementar.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675" y="3895397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interstivos e de tempo real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21365" y="6411956"/>
            <a:ext cx="8667115" cy="188595"/>
            <a:chOff x="0" y="0"/>
            <a:chExt cx="1155615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55476" cy="250952"/>
            </a:xfrm>
            <a:custGeom>
              <a:avLst/>
              <a:gdLst/>
              <a:ahLst/>
              <a:cxnLst/>
              <a:rect r="r" b="b" t="t" l="l"/>
              <a:pathLst>
                <a:path h="250952" w="11555476">
                  <a:moveTo>
                    <a:pt x="11555476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1555476" y="0"/>
                  </a:lnTo>
                  <a:lnTo>
                    <a:pt x="11555476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602315" y="5143500"/>
            <a:ext cx="1409699" cy="1262964"/>
            <a:chOff x="0" y="0"/>
            <a:chExt cx="1879599" cy="1683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8990" y="5423845"/>
            <a:ext cx="142036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0      3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970289" y="5143500"/>
            <a:ext cx="1514475" cy="1266824"/>
            <a:chOff x="0" y="0"/>
            <a:chExt cx="2019300" cy="16890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9300" cy="1689100"/>
            </a:xfrm>
            <a:custGeom>
              <a:avLst/>
              <a:gdLst/>
              <a:ahLst/>
              <a:cxnLst/>
              <a:rect r="r" b="b" t="t" l="l"/>
              <a:pathLst>
                <a:path h="16891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089352" y="5423845"/>
            <a:ext cx="161630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5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5162347" y="876505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18/26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75409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34638" y="8754099"/>
            <a:ext cx="1677434" cy="813764"/>
            <a:chOff x="0" y="0"/>
            <a:chExt cx="4417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4675" y="950590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SRTN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675" y="2455540"/>
            <a:ext cx="11195173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Remaining Time Next (SRTN)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4675" y="5363829"/>
            <a:ext cx="8319325" cy="19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Melhor tempo médio de espera de resposta.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87551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Mais complexo de implementar.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675" y="3895397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interstivos e de tempo real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21365" y="6411956"/>
            <a:ext cx="8667115" cy="188595"/>
            <a:chOff x="0" y="0"/>
            <a:chExt cx="1155615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55476" cy="250952"/>
            </a:xfrm>
            <a:custGeom>
              <a:avLst/>
              <a:gdLst/>
              <a:ahLst/>
              <a:cxnLst/>
              <a:rect r="r" b="b" t="t" l="l"/>
              <a:pathLst>
                <a:path h="250952" w="11555476">
                  <a:moveTo>
                    <a:pt x="11555476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1555476" y="0"/>
                  </a:lnTo>
                  <a:lnTo>
                    <a:pt x="11555476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602315" y="5143500"/>
            <a:ext cx="1409699" cy="1262964"/>
            <a:chOff x="0" y="0"/>
            <a:chExt cx="1879599" cy="1683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8990" y="5423845"/>
            <a:ext cx="142036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0      3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970289" y="5143500"/>
            <a:ext cx="1514475" cy="1266824"/>
            <a:chOff x="0" y="0"/>
            <a:chExt cx="2019300" cy="16890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9300" cy="1689100"/>
            </a:xfrm>
            <a:custGeom>
              <a:avLst/>
              <a:gdLst/>
              <a:ahLst/>
              <a:cxnLst/>
              <a:rect r="r" b="b" t="t" l="l"/>
              <a:pathLst>
                <a:path h="16891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089352" y="5423845"/>
            <a:ext cx="161630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5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2484764" y="5157145"/>
            <a:ext cx="1409699" cy="1262964"/>
            <a:chOff x="0" y="0"/>
            <a:chExt cx="1879599" cy="16839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74101" y="5423845"/>
            <a:ext cx="148082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8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5162347" y="876505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19/26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754099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34638" y="8754099"/>
            <a:ext cx="1677434" cy="813764"/>
            <a:chOff x="0" y="0"/>
            <a:chExt cx="44179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24675" y="950590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SRTN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4675" y="2455540"/>
            <a:ext cx="11195173" cy="189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Shortest Remaining Time Next (SRTN)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4675" y="5363829"/>
            <a:ext cx="8319325" cy="19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Benefícios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Melhor tempo médio de espera de resposta.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87551"/>
            <a:ext cx="11195173" cy="1271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Desafios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Mais complexo de implementar.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4675" y="3895397"/>
            <a:ext cx="11195173" cy="126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2B79C2"/>
                </a:solidFill>
                <a:latin typeface="Helios Bold"/>
                <a:ea typeface="Helios Bold"/>
                <a:cs typeface="Helios Bold"/>
                <a:sym typeface="Helios Bold"/>
              </a:rPr>
              <a:t>Aplicações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Sistemas interstivos e de tempo real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21365" y="6411956"/>
            <a:ext cx="8667115" cy="188595"/>
            <a:chOff x="0" y="0"/>
            <a:chExt cx="11556153" cy="2514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555476" cy="250952"/>
            </a:xfrm>
            <a:custGeom>
              <a:avLst/>
              <a:gdLst/>
              <a:ahLst/>
              <a:cxnLst/>
              <a:rect r="r" b="b" t="t" l="l"/>
              <a:pathLst>
                <a:path h="250952" w="11555476">
                  <a:moveTo>
                    <a:pt x="11555476" y="250952"/>
                  </a:moveTo>
                  <a:lnTo>
                    <a:pt x="0" y="250952"/>
                  </a:lnTo>
                  <a:lnTo>
                    <a:pt x="0" y="0"/>
                  </a:lnTo>
                  <a:lnTo>
                    <a:pt x="11555476" y="0"/>
                  </a:lnTo>
                  <a:lnTo>
                    <a:pt x="11555476" y="250952"/>
                  </a:lnTo>
                  <a:close/>
                </a:path>
              </a:pathLst>
            </a:custGeom>
            <a:solidFill>
              <a:srgbClr val="98A7AF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602315" y="5143500"/>
            <a:ext cx="1409699" cy="1262964"/>
            <a:chOff x="0" y="0"/>
            <a:chExt cx="1879599" cy="16839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68990" y="5423845"/>
            <a:ext cx="142036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0      3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970289" y="5143500"/>
            <a:ext cx="1514475" cy="1266824"/>
            <a:chOff x="0" y="0"/>
            <a:chExt cx="2019300" cy="16890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9300" cy="1689100"/>
            </a:xfrm>
            <a:custGeom>
              <a:avLst/>
              <a:gdLst/>
              <a:ahLst/>
              <a:cxnLst/>
              <a:rect r="r" b="b" t="t" l="l"/>
              <a:pathLst>
                <a:path h="1689100" w="2019300">
                  <a:moveTo>
                    <a:pt x="0" y="0"/>
                  </a:moveTo>
                  <a:lnTo>
                    <a:pt x="2019300" y="0"/>
                  </a:lnTo>
                  <a:lnTo>
                    <a:pt x="2019300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089352" y="5423845"/>
            <a:ext cx="161630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5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2484764" y="5157145"/>
            <a:ext cx="1409699" cy="1262964"/>
            <a:chOff x="0" y="0"/>
            <a:chExt cx="1879599" cy="16839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79600" cy="1683893"/>
            </a:xfrm>
            <a:custGeom>
              <a:avLst/>
              <a:gdLst/>
              <a:ahLst/>
              <a:cxnLst/>
              <a:rect r="r" b="b" t="t" l="l"/>
              <a:pathLst>
                <a:path h="1683893" w="1879600">
                  <a:moveTo>
                    <a:pt x="0" y="0"/>
                  </a:moveTo>
                  <a:lnTo>
                    <a:pt x="1879600" y="0"/>
                  </a:lnTo>
                  <a:lnTo>
                    <a:pt x="1879600" y="1683893"/>
                  </a:lnTo>
                  <a:lnTo>
                    <a:pt x="0" y="168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02" r="0" b="-705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74101" y="5423845"/>
            <a:ext cx="1480822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B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8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3785697" y="5143500"/>
            <a:ext cx="2733674" cy="1266824"/>
            <a:chOff x="0" y="0"/>
            <a:chExt cx="3644899" cy="16890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44900" cy="1689100"/>
            </a:xfrm>
            <a:custGeom>
              <a:avLst/>
              <a:gdLst/>
              <a:ahLst/>
              <a:cxnLst/>
              <a:rect r="r" b="b" t="t" l="l"/>
              <a:pathLst>
                <a:path h="1689100" w="3644900">
                  <a:moveTo>
                    <a:pt x="0" y="0"/>
                  </a:moveTo>
                  <a:lnTo>
                    <a:pt x="3644900" y="0"/>
                  </a:lnTo>
                  <a:lnTo>
                    <a:pt x="3644900" y="1689100"/>
                  </a:lnTo>
                  <a:lnTo>
                    <a:pt x="0" y="1689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6" r="0" b="-126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764895" y="5423845"/>
            <a:ext cx="2847177" cy="250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D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  <a:p>
            <a:pPr algn="ctr">
              <a:lnSpc>
                <a:spcPts val="5004"/>
              </a:lnSpc>
              <a:spcBef>
                <a:spcPct val="0"/>
              </a:spcBef>
            </a:pPr>
            <a:r>
              <a:rPr lang="en-US" sz="3574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                  16</a:t>
            </a:r>
          </a:p>
          <a:p>
            <a:pPr algn="ctr">
              <a:lnSpc>
                <a:spcPts val="5004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069646" y="876505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20/26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97865" y="8851418"/>
            <a:ext cx="1677434" cy="813764"/>
            <a:chOff x="0" y="0"/>
            <a:chExt cx="44179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793" cy="214325"/>
            </a:xfrm>
            <a:custGeom>
              <a:avLst/>
              <a:gdLst/>
              <a:ahLst/>
              <a:cxnLst/>
              <a:rect r="r" b="b" t="t" l="l"/>
              <a:pathLst>
                <a:path h="214325" w="441793">
                  <a:moveTo>
                    <a:pt x="92307" y="0"/>
                  </a:moveTo>
                  <a:lnTo>
                    <a:pt x="349487" y="0"/>
                  </a:lnTo>
                  <a:cubicBezTo>
                    <a:pt x="373968" y="0"/>
                    <a:pt x="397446" y="9725"/>
                    <a:pt x="414757" y="27036"/>
                  </a:cubicBezTo>
                  <a:cubicBezTo>
                    <a:pt x="432068" y="44347"/>
                    <a:pt x="441793" y="67825"/>
                    <a:pt x="441793" y="92307"/>
                  </a:cubicBezTo>
                  <a:lnTo>
                    <a:pt x="441793" y="122018"/>
                  </a:lnTo>
                  <a:cubicBezTo>
                    <a:pt x="441793" y="146499"/>
                    <a:pt x="432068" y="169978"/>
                    <a:pt x="414757" y="187289"/>
                  </a:cubicBezTo>
                  <a:cubicBezTo>
                    <a:pt x="397446" y="204599"/>
                    <a:pt x="373968" y="214325"/>
                    <a:pt x="349487" y="214325"/>
                  </a:cubicBezTo>
                  <a:lnTo>
                    <a:pt x="92307" y="214325"/>
                  </a:lnTo>
                  <a:cubicBezTo>
                    <a:pt x="67825" y="214325"/>
                    <a:pt x="44347" y="204599"/>
                    <a:pt x="27036" y="187289"/>
                  </a:cubicBezTo>
                  <a:cubicBezTo>
                    <a:pt x="9725" y="169978"/>
                    <a:pt x="0" y="146499"/>
                    <a:pt x="0" y="122018"/>
                  </a:cubicBezTo>
                  <a:lnTo>
                    <a:pt x="0" y="92307"/>
                  </a:lnTo>
                  <a:cubicBezTo>
                    <a:pt x="0" y="67825"/>
                    <a:pt x="9725" y="44347"/>
                    <a:pt x="27036" y="27036"/>
                  </a:cubicBezTo>
                  <a:cubicBezTo>
                    <a:pt x="44347" y="9725"/>
                    <a:pt x="67825" y="0"/>
                    <a:pt x="9230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179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07046" y="1719262"/>
            <a:ext cx="10102310" cy="7539038"/>
          </a:xfrm>
          <a:custGeom>
            <a:avLst/>
            <a:gdLst/>
            <a:ahLst/>
            <a:cxnLst/>
            <a:rect r="r" b="b" t="t" l="l"/>
            <a:pathLst>
              <a:path h="7539038" w="10102310">
                <a:moveTo>
                  <a:pt x="0" y="0"/>
                </a:moveTo>
                <a:lnTo>
                  <a:pt x="10102310" y="0"/>
                </a:lnTo>
                <a:lnTo>
                  <a:pt x="10102310" y="7539038"/>
                </a:lnTo>
                <a:lnTo>
                  <a:pt x="0" y="7539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93119" y="481013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ALGORITMO SRTN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94741" y="9474682"/>
            <a:ext cx="62665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59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Figura 8: Gráfico Algoritmo  SRTN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451229" y="8860627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21/26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87641" y="8444536"/>
            <a:ext cx="2371659" cy="813764"/>
            <a:chOff x="0" y="0"/>
            <a:chExt cx="624634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4634" cy="214325"/>
            </a:xfrm>
            <a:custGeom>
              <a:avLst/>
              <a:gdLst/>
              <a:ahLst/>
              <a:cxnLst/>
              <a:rect r="r" b="b" t="t" l="l"/>
              <a:pathLst>
                <a:path h="214325" w="624634">
                  <a:moveTo>
                    <a:pt x="65287" y="0"/>
                  </a:moveTo>
                  <a:lnTo>
                    <a:pt x="559348" y="0"/>
                  </a:lnTo>
                  <a:cubicBezTo>
                    <a:pt x="576663" y="0"/>
                    <a:pt x="593269" y="6878"/>
                    <a:pt x="605512" y="19122"/>
                  </a:cubicBezTo>
                  <a:cubicBezTo>
                    <a:pt x="617756" y="31366"/>
                    <a:pt x="624634" y="47972"/>
                    <a:pt x="624634" y="65287"/>
                  </a:cubicBezTo>
                  <a:lnTo>
                    <a:pt x="624634" y="149038"/>
                  </a:lnTo>
                  <a:cubicBezTo>
                    <a:pt x="624634" y="185095"/>
                    <a:pt x="595405" y="214325"/>
                    <a:pt x="559348" y="214325"/>
                  </a:cubicBezTo>
                  <a:lnTo>
                    <a:pt x="65287" y="214325"/>
                  </a:lnTo>
                  <a:cubicBezTo>
                    <a:pt x="29230" y="214325"/>
                    <a:pt x="0" y="185095"/>
                    <a:pt x="0" y="149038"/>
                  </a:cubicBezTo>
                  <a:lnTo>
                    <a:pt x="0" y="65287"/>
                  </a:lnTo>
                  <a:cubicBezTo>
                    <a:pt x="0" y="29230"/>
                    <a:pt x="29230" y="0"/>
                    <a:pt x="6528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24634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560001"/>
            <a:ext cx="11195173" cy="635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PROJETO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Linguagem C: Base do Projeto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GTK4: Interface do Simulador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Cairo : Desenhar o gráfico Gantt.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Estrutura em C  : Controle de Dados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Modularização com Headers: Separação de código em arquivos .c e .h.</a:t>
            </a:r>
          </a:p>
          <a:p>
            <a:pPr algn="l" marL="771820" indent="-385910" lvl="1">
              <a:lnSpc>
                <a:spcPts val="5004"/>
              </a:lnSpc>
              <a:buFont typeface="Arial"/>
              <a:buChar char="•"/>
            </a:pPr>
            <a:r>
              <a:rPr lang="en-US" b="true" sz="3574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Makefile: Automação da Compilação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60181" y="2408409"/>
            <a:ext cx="2732939" cy="2732939"/>
          </a:xfrm>
          <a:custGeom>
            <a:avLst/>
            <a:gdLst/>
            <a:ahLst/>
            <a:cxnLst/>
            <a:rect r="r" b="b" t="t" l="l"/>
            <a:pathLst>
              <a:path h="2732939" w="2732939">
                <a:moveTo>
                  <a:pt x="0" y="0"/>
                </a:moveTo>
                <a:lnTo>
                  <a:pt x="2732938" y="0"/>
                </a:lnTo>
                <a:lnTo>
                  <a:pt x="2732938" y="2732938"/>
                </a:lnTo>
                <a:lnTo>
                  <a:pt x="0" y="2732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98320" y="5486400"/>
            <a:ext cx="4160980" cy="2002472"/>
          </a:xfrm>
          <a:custGeom>
            <a:avLst/>
            <a:gdLst/>
            <a:ahLst/>
            <a:cxnLst/>
            <a:rect r="r" b="b" t="t" l="l"/>
            <a:pathLst>
              <a:path h="2002472" w="4160980">
                <a:moveTo>
                  <a:pt x="0" y="0"/>
                </a:moveTo>
                <a:lnTo>
                  <a:pt x="4160980" y="0"/>
                </a:lnTo>
                <a:lnTo>
                  <a:pt x="4160980" y="2002472"/>
                </a:lnTo>
                <a:lnTo>
                  <a:pt x="0" y="2002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FERRAMENTAS UTILIZADAS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22/26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50752" y="8444536"/>
            <a:ext cx="2308548" cy="813764"/>
            <a:chOff x="0" y="0"/>
            <a:chExt cx="60801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013" cy="214325"/>
            </a:xfrm>
            <a:custGeom>
              <a:avLst/>
              <a:gdLst/>
              <a:ahLst/>
              <a:cxnLst/>
              <a:rect r="r" b="b" t="t" l="l"/>
              <a:pathLst>
                <a:path h="214325" w="608013">
                  <a:moveTo>
                    <a:pt x="67072" y="0"/>
                  </a:moveTo>
                  <a:lnTo>
                    <a:pt x="540941" y="0"/>
                  </a:lnTo>
                  <a:cubicBezTo>
                    <a:pt x="558729" y="0"/>
                    <a:pt x="575789" y="7066"/>
                    <a:pt x="588368" y="19645"/>
                  </a:cubicBezTo>
                  <a:cubicBezTo>
                    <a:pt x="600946" y="32223"/>
                    <a:pt x="608013" y="49283"/>
                    <a:pt x="608013" y="67072"/>
                  </a:cubicBezTo>
                  <a:lnTo>
                    <a:pt x="608013" y="147253"/>
                  </a:lnTo>
                  <a:cubicBezTo>
                    <a:pt x="608013" y="165041"/>
                    <a:pt x="600946" y="182101"/>
                    <a:pt x="588368" y="194680"/>
                  </a:cubicBezTo>
                  <a:cubicBezTo>
                    <a:pt x="575789" y="207258"/>
                    <a:pt x="558729" y="214325"/>
                    <a:pt x="540941" y="214325"/>
                  </a:cubicBezTo>
                  <a:lnTo>
                    <a:pt x="67072" y="214325"/>
                  </a:lnTo>
                  <a:cubicBezTo>
                    <a:pt x="49283" y="214325"/>
                    <a:pt x="32223" y="207258"/>
                    <a:pt x="19645" y="194680"/>
                  </a:cubicBezTo>
                  <a:cubicBezTo>
                    <a:pt x="7066" y="182101"/>
                    <a:pt x="0" y="165041"/>
                    <a:pt x="0" y="147253"/>
                  </a:cubicBezTo>
                  <a:lnTo>
                    <a:pt x="0" y="67072"/>
                  </a:lnTo>
                  <a:cubicBezTo>
                    <a:pt x="0" y="49283"/>
                    <a:pt x="7066" y="32223"/>
                    <a:pt x="19645" y="19645"/>
                  </a:cubicBezTo>
                  <a:cubicBezTo>
                    <a:pt x="32223" y="7066"/>
                    <a:pt x="49283" y="0"/>
                    <a:pt x="67072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801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7227" y="825106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CONSIDERAÇÕES FINAIS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560001"/>
            <a:ext cx="11195173" cy="4443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4293F4"/>
                </a:solidFill>
                <a:latin typeface="Helios Bold"/>
                <a:ea typeface="Helios Bold"/>
                <a:cs typeface="Helios Bold"/>
                <a:sym typeface="Helios Bold"/>
              </a:rPr>
              <a:t>PROJETO</a:t>
            </a:r>
          </a:p>
          <a:p>
            <a:pPr algn="l">
              <a:lnSpc>
                <a:spcPts val="5004"/>
              </a:lnSpc>
            </a:pPr>
            <a:r>
              <a:rPr lang="en-US" sz="3574" b="true">
                <a:solidFill>
                  <a:srgbClr val="DAE9ED"/>
                </a:solidFill>
                <a:latin typeface="Helios Bold"/>
                <a:ea typeface="Helios Bold"/>
                <a:cs typeface="Helios Bold"/>
                <a:sym typeface="Helios Bold"/>
              </a:rPr>
              <a:t>O projeto demostra, de forma iterativa, os impactos do algoritmos de escalonamento na execução de processos, base útil para ensino de arquitetura.</a:t>
            </a:r>
          </a:p>
          <a:p>
            <a:pPr algn="l">
              <a:lnSpc>
                <a:spcPts val="5004"/>
              </a:lnSpc>
            </a:pPr>
          </a:p>
          <a:p>
            <a:pPr algn="l">
              <a:lnSpc>
                <a:spcPts val="500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23/26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950752" y="8444536"/>
            <a:ext cx="2308548" cy="813764"/>
            <a:chOff x="0" y="0"/>
            <a:chExt cx="608013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8013" cy="214325"/>
            </a:xfrm>
            <a:custGeom>
              <a:avLst/>
              <a:gdLst/>
              <a:ahLst/>
              <a:cxnLst/>
              <a:rect r="r" b="b" t="t" l="l"/>
              <a:pathLst>
                <a:path h="214325" w="608013">
                  <a:moveTo>
                    <a:pt x="67072" y="0"/>
                  </a:moveTo>
                  <a:lnTo>
                    <a:pt x="540941" y="0"/>
                  </a:lnTo>
                  <a:cubicBezTo>
                    <a:pt x="558729" y="0"/>
                    <a:pt x="575789" y="7066"/>
                    <a:pt x="588368" y="19645"/>
                  </a:cubicBezTo>
                  <a:cubicBezTo>
                    <a:pt x="600946" y="32223"/>
                    <a:pt x="608013" y="49283"/>
                    <a:pt x="608013" y="67072"/>
                  </a:cubicBezTo>
                  <a:lnTo>
                    <a:pt x="608013" y="147253"/>
                  </a:lnTo>
                  <a:cubicBezTo>
                    <a:pt x="608013" y="165041"/>
                    <a:pt x="600946" y="182101"/>
                    <a:pt x="588368" y="194680"/>
                  </a:cubicBezTo>
                  <a:cubicBezTo>
                    <a:pt x="575789" y="207258"/>
                    <a:pt x="558729" y="214325"/>
                    <a:pt x="540941" y="214325"/>
                  </a:cubicBezTo>
                  <a:lnTo>
                    <a:pt x="67072" y="214325"/>
                  </a:lnTo>
                  <a:cubicBezTo>
                    <a:pt x="49283" y="214325"/>
                    <a:pt x="32223" y="207258"/>
                    <a:pt x="19645" y="194680"/>
                  </a:cubicBezTo>
                  <a:cubicBezTo>
                    <a:pt x="7066" y="182101"/>
                    <a:pt x="0" y="165041"/>
                    <a:pt x="0" y="147253"/>
                  </a:cubicBezTo>
                  <a:lnTo>
                    <a:pt x="0" y="67072"/>
                  </a:lnTo>
                  <a:cubicBezTo>
                    <a:pt x="0" y="49283"/>
                    <a:pt x="7066" y="32223"/>
                    <a:pt x="19645" y="19645"/>
                  </a:cubicBezTo>
                  <a:cubicBezTo>
                    <a:pt x="32223" y="7066"/>
                    <a:pt x="49283" y="0"/>
                    <a:pt x="67072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0801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76731" y="-1297646"/>
            <a:ext cx="5657850" cy="56578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30375" y="-3580911"/>
            <a:ext cx="5657850" cy="56578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14323" y="1028700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7" y="0"/>
                </a:lnTo>
                <a:lnTo>
                  <a:pt x="5344977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3008" y="1371259"/>
            <a:ext cx="3645137" cy="320040"/>
          </a:xfrm>
          <a:custGeom>
            <a:avLst/>
            <a:gdLst/>
            <a:ahLst/>
            <a:cxnLst/>
            <a:rect r="r" b="b" t="t" l="l"/>
            <a:pathLst>
              <a:path h="320040" w="3645137">
                <a:moveTo>
                  <a:pt x="0" y="0"/>
                </a:moveTo>
                <a:lnTo>
                  <a:pt x="3645136" y="0"/>
                </a:lnTo>
                <a:lnTo>
                  <a:pt x="3645136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0068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732015"/>
            <a:ext cx="11643565" cy="2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1"/>
              </a:lnSpc>
            </a:pPr>
            <a:r>
              <a:rPr lang="en-US" sz="9001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APRESENTAÇÃO DO EXECUTÁVEL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24/26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9258300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24530" y="9258300"/>
            <a:ext cx="2434770" cy="813764"/>
            <a:chOff x="0" y="0"/>
            <a:chExt cx="641256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1256" cy="214325"/>
            </a:xfrm>
            <a:custGeom>
              <a:avLst/>
              <a:gdLst/>
              <a:ahLst/>
              <a:cxnLst/>
              <a:rect r="r" b="b" t="t" l="l"/>
              <a:pathLst>
                <a:path h="214325" w="641256">
                  <a:moveTo>
                    <a:pt x="63595" y="0"/>
                  </a:moveTo>
                  <a:lnTo>
                    <a:pt x="577662" y="0"/>
                  </a:lnTo>
                  <a:cubicBezTo>
                    <a:pt x="612784" y="0"/>
                    <a:pt x="641256" y="28472"/>
                    <a:pt x="641256" y="63595"/>
                  </a:cubicBezTo>
                  <a:lnTo>
                    <a:pt x="641256" y="150730"/>
                  </a:lnTo>
                  <a:cubicBezTo>
                    <a:pt x="641256" y="167596"/>
                    <a:pt x="634556" y="183772"/>
                    <a:pt x="622630" y="195698"/>
                  </a:cubicBezTo>
                  <a:cubicBezTo>
                    <a:pt x="610704" y="207624"/>
                    <a:pt x="594528" y="214325"/>
                    <a:pt x="577662" y="214325"/>
                  </a:cubicBezTo>
                  <a:lnTo>
                    <a:pt x="63595" y="214325"/>
                  </a:lnTo>
                  <a:cubicBezTo>
                    <a:pt x="46728" y="214325"/>
                    <a:pt x="30553" y="207624"/>
                    <a:pt x="18626" y="195698"/>
                  </a:cubicBezTo>
                  <a:cubicBezTo>
                    <a:pt x="6700" y="183772"/>
                    <a:pt x="0" y="167596"/>
                    <a:pt x="0" y="150730"/>
                  </a:cubicBezTo>
                  <a:lnTo>
                    <a:pt x="0" y="63595"/>
                  </a:lnTo>
                  <a:cubicBezTo>
                    <a:pt x="0" y="46728"/>
                    <a:pt x="6700" y="30553"/>
                    <a:pt x="18626" y="18626"/>
                  </a:cubicBezTo>
                  <a:cubicBezTo>
                    <a:pt x="30553" y="6700"/>
                    <a:pt x="46728" y="0"/>
                    <a:pt x="63595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41256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171575"/>
            <a:ext cx="14504746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000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REFERÊNCIAS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9175" y="2343150"/>
            <a:ext cx="15921323" cy="6167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34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TANENBAUM, A. S.; BOS, H. Sistemas Operacionais Modernos. 4ª Edição. Editora Pearson.</a:t>
            </a:r>
          </a:p>
          <a:p>
            <a:pPr algn="just">
              <a:lnSpc>
                <a:spcPts val="4434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O Que é: Interface Gráfica Do Usuário (GUI)» Instel PMOC. Disponível em: &lt;https://instel- pmoc.com.br/glossario/o-que-e-interface-grafica-do-usuario-gui/&gt;. Acesso em:02/05/24.</a:t>
            </a:r>
          </a:p>
          <a:p>
            <a:pPr algn="just">
              <a:lnSpc>
                <a:spcPts val="4434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O que é um processo em um sistema operacional? Disponível em: &lt;https://dev.to/nfo94/o- que-e-um-processo-em-um-sistema-operacional-2769&gt;.Acesso em:2/05/24.</a:t>
            </a:r>
          </a:p>
          <a:p>
            <a:pPr algn="just">
              <a:lnSpc>
                <a:spcPts val="4434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CAVALCANTE, Matheus. O que é concorrência em um sistema operacional?. MEDIUM</a:t>
            </a:r>
          </a:p>
          <a:p>
            <a:pPr algn="just">
              <a:lnSpc>
                <a:spcPts val="4434"/>
              </a:lnSpc>
              <a:spcBef>
                <a:spcPct val="0"/>
              </a:spcBef>
            </a:pPr>
            <a:r>
              <a:rPr lang="en-US" sz="3167">
                <a:solidFill>
                  <a:srgbClr val="FFFFFF"/>
                </a:solidFill>
                <a:latin typeface="Helios"/>
                <a:ea typeface="Helios"/>
                <a:cs typeface="Helios"/>
                <a:sym typeface="Helios"/>
              </a:rPr>
              <a:t>&lt;https://dev.to/nfo94/o-que-e-concorrencia-em-um-sistema-operacional-1pj1&gt;.Acesso em: 19/05/24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62347" y="9269258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25/26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444536"/>
            <a:ext cx="15583372" cy="813764"/>
            <a:chOff x="0" y="0"/>
            <a:chExt cx="4104263" cy="21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04263" cy="214325"/>
            </a:xfrm>
            <a:custGeom>
              <a:avLst/>
              <a:gdLst/>
              <a:ahLst/>
              <a:cxnLst/>
              <a:rect r="r" b="b" t="t" l="l"/>
              <a:pathLst>
                <a:path h="214325" w="4104263">
                  <a:moveTo>
                    <a:pt x="9936" y="0"/>
                  </a:moveTo>
                  <a:lnTo>
                    <a:pt x="4094326" y="0"/>
                  </a:lnTo>
                  <a:cubicBezTo>
                    <a:pt x="4096962" y="0"/>
                    <a:pt x="4099489" y="1047"/>
                    <a:pt x="4101352" y="2910"/>
                  </a:cubicBezTo>
                  <a:cubicBezTo>
                    <a:pt x="4103216" y="4774"/>
                    <a:pt x="4104263" y="7301"/>
                    <a:pt x="4104263" y="9936"/>
                  </a:cubicBezTo>
                  <a:lnTo>
                    <a:pt x="4104263" y="204388"/>
                  </a:lnTo>
                  <a:cubicBezTo>
                    <a:pt x="4104263" y="209876"/>
                    <a:pt x="4099814" y="214325"/>
                    <a:pt x="4094326" y="214325"/>
                  </a:cubicBezTo>
                  <a:lnTo>
                    <a:pt x="9936" y="214325"/>
                  </a:lnTo>
                  <a:cubicBezTo>
                    <a:pt x="4449" y="214325"/>
                    <a:pt x="0" y="209876"/>
                    <a:pt x="0" y="204388"/>
                  </a:cubicBezTo>
                  <a:lnTo>
                    <a:pt x="0" y="9936"/>
                  </a:lnTo>
                  <a:cubicBezTo>
                    <a:pt x="0" y="4449"/>
                    <a:pt x="4449" y="0"/>
                    <a:pt x="9936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04263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13864" y="8444536"/>
            <a:ext cx="2245436" cy="813764"/>
            <a:chOff x="0" y="0"/>
            <a:chExt cx="591391" cy="2143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91391" cy="214325"/>
            </a:xfrm>
            <a:custGeom>
              <a:avLst/>
              <a:gdLst/>
              <a:ahLst/>
              <a:cxnLst/>
              <a:rect r="r" b="b" t="t" l="l"/>
              <a:pathLst>
                <a:path h="214325" w="591391">
                  <a:moveTo>
                    <a:pt x="68957" y="0"/>
                  </a:moveTo>
                  <a:lnTo>
                    <a:pt x="522434" y="0"/>
                  </a:lnTo>
                  <a:cubicBezTo>
                    <a:pt x="540722" y="0"/>
                    <a:pt x="558262" y="7265"/>
                    <a:pt x="571194" y="20197"/>
                  </a:cubicBezTo>
                  <a:cubicBezTo>
                    <a:pt x="584126" y="33129"/>
                    <a:pt x="591391" y="50668"/>
                    <a:pt x="591391" y="68957"/>
                  </a:cubicBezTo>
                  <a:lnTo>
                    <a:pt x="591391" y="145368"/>
                  </a:lnTo>
                  <a:cubicBezTo>
                    <a:pt x="591391" y="163656"/>
                    <a:pt x="584126" y="181196"/>
                    <a:pt x="571194" y="194128"/>
                  </a:cubicBezTo>
                  <a:cubicBezTo>
                    <a:pt x="558262" y="207059"/>
                    <a:pt x="540722" y="214325"/>
                    <a:pt x="522434" y="214325"/>
                  </a:cubicBezTo>
                  <a:lnTo>
                    <a:pt x="68957" y="214325"/>
                  </a:lnTo>
                  <a:cubicBezTo>
                    <a:pt x="50668" y="214325"/>
                    <a:pt x="33129" y="207059"/>
                    <a:pt x="20197" y="194128"/>
                  </a:cubicBezTo>
                  <a:cubicBezTo>
                    <a:pt x="7265" y="181196"/>
                    <a:pt x="0" y="163656"/>
                    <a:pt x="0" y="145368"/>
                  </a:cubicBezTo>
                  <a:lnTo>
                    <a:pt x="0" y="68957"/>
                  </a:lnTo>
                  <a:cubicBezTo>
                    <a:pt x="0" y="50668"/>
                    <a:pt x="7265" y="33129"/>
                    <a:pt x="20197" y="20197"/>
                  </a:cubicBezTo>
                  <a:cubicBezTo>
                    <a:pt x="33129" y="7265"/>
                    <a:pt x="50668" y="0"/>
                    <a:pt x="68957" y="0"/>
                  </a:cubicBez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91391" cy="252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76731" y="-1297646"/>
            <a:ext cx="5657850" cy="56578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30375" y="-3580911"/>
            <a:ext cx="5657850" cy="56578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CCFF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14323" y="1028700"/>
            <a:ext cx="5344977" cy="5656060"/>
          </a:xfrm>
          <a:custGeom>
            <a:avLst/>
            <a:gdLst/>
            <a:ahLst/>
            <a:cxnLst/>
            <a:rect r="r" b="b" t="t" l="l"/>
            <a:pathLst>
              <a:path h="5656060" w="5344977">
                <a:moveTo>
                  <a:pt x="0" y="0"/>
                </a:moveTo>
                <a:lnTo>
                  <a:pt x="5344977" y="0"/>
                </a:lnTo>
                <a:lnTo>
                  <a:pt x="5344977" y="5656060"/>
                </a:lnTo>
                <a:lnTo>
                  <a:pt x="0" y="5656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3008" y="1371259"/>
            <a:ext cx="3645137" cy="320040"/>
          </a:xfrm>
          <a:custGeom>
            <a:avLst/>
            <a:gdLst/>
            <a:ahLst/>
            <a:cxnLst/>
            <a:rect r="r" b="b" t="t" l="l"/>
            <a:pathLst>
              <a:path h="320040" w="3645137">
                <a:moveTo>
                  <a:pt x="0" y="0"/>
                </a:moveTo>
                <a:lnTo>
                  <a:pt x="3645136" y="0"/>
                </a:lnTo>
                <a:lnTo>
                  <a:pt x="3645136" y="320040"/>
                </a:lnTo>
                <a:lnTo>
                  <a:pt x="0" y="3200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00683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732015"/>
            <a:ext cx="11643565" cy="239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1"/>
              </a:lnSpc>
            </a:pPr>
            <a:r>
              <a:rPr lang="en-US" sz="9001" b="true">
                <a:solidFill>
                  <a:srgbClr val="00CCFF"/>
                </a:solidFill>
                <a:latin typeface="Helios Condensed Bold"/>
                <a:ea typeface="Helios Condensed Bold"/>
                <a:cs typeface="Helios Condensed Bold"/>
                <a:sym typeface="Helios Condensed Bold"/>
              </a:rPr>
              <a:t>OBRIGADO PELA ATENÇÃO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62347" y="8455494"/>
            <a:ext cx="1449725" cy="706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4"/>
              </a:lnSpc>
            </a:pPr>
            <a:r>
              <a:rPr lang="en-US" sz="4074">
                <a:solidFill>
                  <a:srgbClr val="DAE9ED"/>
                </a:solidFill>
                <a:latin typeface="Helios"/>
                <a:ea typeface="Helios"/>
                <a:cs typeface="Helios"/>
                <a:sym typeface="Helios"/>
              </a:rPr>
              <a:t>26/26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DAGsYa6yHro</dc:identifier>
  <dcterms:modified xsi:type="dcterms:W3CDTF">2011-08-01T06:04:30Z</dcterms:modified>
  <cp:revision>1</cp:revision>
  <dc:title>Navy And Blue Modern Human Resources Management Presentation</dc:title>
</cp:coreProperties>
</file>